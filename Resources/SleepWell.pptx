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72" r:id="rId6"/>
    <p:sldId id="259" r:id="rId7"/>
    <p:sldId id="273" r:id="rId8"/>
    <p:sldId id="260" r:id="rId9"/>
    <p:sldId id="274" r:id="rId10"/>
    <p:sldId id="261" r:id="rId11"/>
    <p:sldId id="275" r:id="rId12"/>
    <p:sldId id="262" r:id="rId13"/>
    <p:sldId id="276" r:id="rId14"/>
    <p:sldId id="263" r:id="rId15"/>
    <p:sldId id="277" r:id="rId16"/>
    <p:sldId id="264" r:id="rId17"/>
    <p:sldId id="278" r:id="rId18"/>
    <p:sldId id="265" r:id="rId19"/>
    <p:sldId id="279" r:id="rId20"/>
    <p:sldId id="266" r:id="rId21"/>
    <p:sldId id="280" r:id="rId22"/>
    <p:sldId id="267" r:id="rId23"/>
    <p:sldId id="268" r:id="rId24"/>
    <p:sldId id="281" r:id="rId25"/>
    <p:sldId id="269" r:id="rId26"/>
    <p:sldId id="270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1208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E1D6-4CC3-CE24-B1F5-4FD20E51E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634BA-E7AA-FAFB-CBE0-56BD466C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89DC-A536-189E-CAEE-2103A41D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9761D-1B8F-DDEF-2DAB-F717D45D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BC046-F21B-6C33-790B-2EEDEB2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965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F0BB-D0CE-D8C8-C42B-6AD10DB9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A681-298F-93FD-0A2D-E9780CE76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82F12-461D-93D7-BBA5-24028600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2F98-05EA-7DB0-F36F-D1FF1718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10A8-B020-CA7A-8532-C6DBDF0E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694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4E4B-3348-F77B-2F41-CD7722E76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3627E-E279-B2E6-C793-A04FCDF8B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C4007-903A-D9C3-76E6-7DC4304B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EC26C-2982-C4FF-E0C3-3EB38A2D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5D44C-51C5-E073-DAEF-68A529F3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8920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0569-7460-B37C-65E7-34075F13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97DF-04D9-B987-9495-5FE2E582E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951CD-91A1-22B8-2D56-24B6FDF6E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B612A-FEE7-E4F3-73F8-ED9650CB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945EC-5BF8-35C2-1FCE-6FC4E8BC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786BD-E6F5-C286-F059-098A7042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824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96BD-7E58-C416-ED7C-6F088D78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18B34-45A8-842C-E88F-46C2E210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AF71E-2274-A748-ED4E-9CC033C92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553FE-6141-B711-A6F4-2E5167E28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A985C-EEB8-A037-D97C-4DFD98357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7CED2-464F-F0ED-9704-5B6C9D8D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83762-23A8-8118-8AD4-F1B8AA6F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36F0DE-7824-F667-AA8C-70C655BB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068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38CE-112F-A32E-8D59-0DBD5358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E221A-D4DD-6DA7-58B0-A3AA3047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B8369-6EBF-F1C0-994F-5B09FD44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2E3D9-AB33-AD9F-91E5-8D254FB6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734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843F9-FF46-F531-E3F9-01E2EADB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A4992-3351-CDF1-23DA-EC42C363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0D45-DEAD-0F58-22AA-A445578E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475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28D5-CB60-880E-EB16-360834B5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C409-9015-E3FF-C394-FEC32FCC8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5D375-7037-67BA-E99A-DB857012E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EFAAB-2114-2BDB-FCA6-D2DF1836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B655A-F866-A07E-CBBC-41E22A82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FAE28-36C5-5E6C-37BC-C43B57DE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655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58DA-9397-317E-0276-22C337D1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B0804-B39E-F184-8DC6-E3789BA28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F5713-C7FA-36B2-EC25-0DDD14F20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6295-3EC9-7194-8CC5-73B7988F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D8344-CC9C-DF39-810C-A417EC97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3185E-E897-E751-5A02-A6DA1402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5723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CD98-CD68-B093-450D-A4F3BFDE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5F37A-32DC-8524-6D84-B3BBEFD82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CE4CE-F856-669D-3AE6-9BA51D4F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8C764-541D-34EB-F067-BBFFD0ADF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816F-6488-ED3D-C9A3-65D90080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520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4640B-BA8C-8905-4C1A-4D27E1227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3AAA-D4DB-01E2-DE69-71D9B1C18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3D779-C8E1-6218-318F-530AED9C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9B1BD-414E-1900-88C9-9174DE4D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DACDD-5952-CA49-F574-4A5062C9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479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3C7EC-FDC5-408A-FB56-61ECADC9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E698C-9C1A-E837-F146-9603A274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1CD69-0B63-A350-7276-F8180F5E2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7FCF-F2A2-4BE6-BD33-58F99D9B4C4B}" type="datetimeFigureOut">
              <a:rPr lang="en-SG" smtClean="0"/>
              <a:t>26/7/2026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DAB3E-3F80-6EAA-0A50-A60A0AE1A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CB1CF-1446-70BF-254A-01D4B92A0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B4661-7568-4ACF-9598-1B6150119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617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71EC-1489-73E5-DFF0-C39C0136B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SleepWell</a:t>
            </a:r>
            <a:r>
              <a:rPr lang="en-US" dirty="0"/>
              <a:t> </a:t>
            </a:r>
            <a:br>
              <a:rPr lang="en-US" dirty="0"/>
            </a:b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C6152-2DF8-F473-F82F-51C40E39FA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err="1"/>
              <a:t>SleepWell</a:t>
            </a:r>
            <a:r>
              <a:rPr lang="en-SG" dirty="0"/>
              <a:t> AI: An Intelligent Sleep Quality Prediction and Personalized Sleep Improvement System</a:t>
            </a:r>
          </a:p>
        </p:txBody>
      </p:sp>
    </p:spTree>
    <p:extLst>
      <p:ext uri="{BB962C8B-B14F-4D97-AF65-F5344CB8AC3E}">
        <p14:creationId xmlns:p14="http://schemas.microsoft.com/office/powerpoint/2010/main" val="397823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18">
            <a:extLst>
              <a:ext uri="{FF2B5EF4-FFF2-40B4-BE49-F238E27FC236}">
                <a16:creationId xmlns:a16="http://schemas.microsoft.com/office/drawing/2014/main" id="{615C98EC-9499-6002-FBE3-FA5B79175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98" y="457200"/>
            <a:ext cx="2368550" cy="42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17">
            <a:extLst>
              <a:ext uri="{FF2B5EF4-FFF2-40B4-BE49-F238E27FC236}">
                <a16:creationId xmlns:a16="http://schemas.microsoft.com/office/drawing/2014/main" id="{C0B68711-6BCA-651F-116D-62A9003AA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960" y="457200"/>
            <a:ext cx="2400300" cy="42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B102671B-F0EB-67EE-6C3E-1BA166EDD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AB0F35E-4F0A-DBE1-5553-04553996D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13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0CF549BC-0E86-BF2D-03CF-5BBA8C860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8519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4652E-8581-7704-CCF4-75D6CB9E3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872" y="500965"/>
            <a:ext cx="2444750" cy="42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E04DF5-7445-08DC-2AD6-BDE402EE2BDB}"/>
              </a:ext>
            </a:extLst>
          </p:cNvPr>
          <p:cNvSpPr txBox="1"/>
          <p:nvPr/>
        </p:nvSpPr>
        <p:spPr>
          <a:xfrm>
            <a:off x="396510" y="177800"/>
            <a:ext cx="7193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1. Onboarding Page Features:</a:t>
            </a:r>
          </a:p>
          <a:p>
            <a:endParaRPr lang="en-SG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2B1CF1A-A6F4-F922-8446-EA80EE24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25526"/>
              </p:ext>
            </p:extLst>
          </p:nvPr>
        </p:nvGraphicFramePr>
        <p:xfrm>
          <a:off x="509798" y="4378579"/>
          <a:ext cx="10806044" cy="24317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3022">
                  <a:extLst>
                    <a:ext uri="{9D8B030D-6E8A-4147-A177-3AD203B41FA5}">
                      <a16:colId xmlns:a16="http://schemas.microsoft.com/office/drawing/2014/main" val="1868865686"/>
                    </a:ext>
                  </a:extLst>
                </a:gridCol>
                <a:gridCol w="5403022">
                  <a:extLst>
                    <a:ext uri="{9D8B030D-6E8A-4147-A177-3AD203B41FA5}">
                      <a16:colId xmlns:a16="http://schemas.microsoft.com/office/drawing/2014/main" val="2600904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Feature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302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Welcome Illustration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a sleep-themed illustration to visually introduce the application's purpose.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07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Onboarding Title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current onboarding message (e.g., "Improve Your Sleep").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2681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Onboarding 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a brief explanation of the application's benefits (e.g., "Track, analyze, and optimize your sleep patterns with science-backed insights.").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364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Progress Indicator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user's current position within the onboarding sequence using pagination dots (e.g., Step 1 of 3).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435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Next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Navigates the user to the next onboarding screen.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034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Skip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skip the onboarding process and proceed directly to the authentication or home screen.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785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Background Theme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Displays the application's branded dark-themed interface with decorative elements for an engaging user experience.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3823978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6B6F1CC4-A6B7-F78E-E6EA-275270C1FD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090"/>
          <a:stretch>
            <a:fillRect/>
          </a:stretch>
        </p:blipFill>
        <p:spPr>
          <a:xfrm>
            <a:off x="7920784" y="457201"/>
            <a:ext cx="3892750" cy="18798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F7D7C2-66EC-5E0C-CAE0-DEE89C292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997" y="2292257"/>
            <a:ext cx="3873699" cy="19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1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55C52A-11C9-84DD-A0D3-AC2A1F1A4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871585"/>
              </p:ext>
            </p:extLst>
          </p:nvPr>
        </p:nvGraphicFramePr>
        <p:xfrm>
          <a:off x="533400" y="139699"/>
          <a:ext cx="11201400" cy="6591299"/>
        </p:xfrm>
        <a:graphic>
          <a:graphicData uri="http://schemas.openxmlformats.org/drawingml/2006/table">
            <a:tbl>
              <a:tblPr/>
              <a:tblGrid>
                <a:gridCol w="2819667">
                  <a:extLst>
                    <a:ext uri="{9D8B030D-6E8A-4147-A177-3AD203B41FA5}">
                      <a16:colId xmlns:a16="http://schemas.microsoft.com/office/drawing/2014/main" val="1206357147"/>
                    </a:ext>
                  </a:extLst>
                </a:gridCol>
                <a:gridCol w="2793911">
                  <a:extLst>
                    <a:ext uri="{9D8B030D-6E8A-4147-A177-3AD203B41FA5}">
                      <a16:colId xmlns:a16="http://schemas.microsoft.com/office/drawing/2014/main" val="2998691570"/>
                    </a:ext>
                  </a:extLst>
                </a:gridCol>
                <a:gridCol w="2793911">
                  <a:extLst>
                    <a:ext uri="{9D8B030D-6E8A-4147-A177-3AD203B41FA5}">
                      <a16:colId xmlns:a16="http://schemas.microsoft.com/office/drawing/2014/main" val="3102465994"/>
                    </a:ext>
                  </a:extLst>
                </a:gridCol>
                <a:gridCol w="2793911">
                  <a:extLst>
                    <a:ext uri="{9D8B030D-6E8A-4147-A177-3AD203B41FA5}">
                      <a16:colId xmlns:a16="http://schemas.microsoft.com/office/drawing/2014/main" val="1242628220"/>
                    </a:ext>
                  </a:extLst>
                </a:gridCol>
              </a:tblGrid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Page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Page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Page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439731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Screen Type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Onboarding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Onboarding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Onboarding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50480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Theme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 Sleep Theme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AI Theme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Night/Moon Theme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26197"/>
                  </a:ext>
                </a:extLst>
              </a:tr>
              <a:tr h="52066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Background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 Navy 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 Purple 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 Blue 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349929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Font Family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Poppins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Poppins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Poppins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763184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Font Size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34–36 px, 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34–36 px, 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34–36 px, 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55786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Button Font Size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 px, SemiBold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 px, SemiBold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 </a:t>
                      </a:r>
                      <a:r>
                        <a:rPr lang="en-SG" sz="1200" b="0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px</a:t>
                      </a: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SG" sz="1200" b="0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SemiBold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65348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Skip Font Size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46030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Body Text </a:t>
                      </a:r>
                      <a:r>
                        <a:rPr lang="en-SG" sz="1200" b="1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Color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Light Gray (#B8C1D9)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Light Gray (#B8C1D9)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Light Gray (#B8C1D9)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2580"/>
                  </a:ext>
                </a:extLst>
              </a:tr>
              <a:tr h="60706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Button </a:t>
                      </a:r>
                      <a:r>
                        <a:rPr lang="en-SG" sz="1200" b="1" i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Color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Left: #5DA9FF → Right: #7A4DFF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Left: #5DA9FF → Right: #7A4DFF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Left: #5DA9FF → Right: #7A4DFF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32995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Button Text Color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White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White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White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8639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Button Shape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Rounded Rectangle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Rounded Rectangle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Rounded Rectangle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716703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Primary Image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Sleeping 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AI Robot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Crescent Moon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71575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Image Style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3D Emoji Illustration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3D Robot Illustration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3D Moon Illustration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702994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Image Size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~120 × 120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~120 × 120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~120 × 120 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7749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Navigation</a:t>
                      </a:r>
                      <a:endParaRPr lang="en-SG" sz="1200" b="0" i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Next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Next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Get Started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61038"/>
                  </a:ext>
                </a:extLst>
              </a:tr>
              <a:tr h="60706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Clickable Items</a:t>
                      </a:r>
                      <a:endParaRPr lang="en-SG" sz="1200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Skip, Next, Progress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Skip, Next, Progress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SG" sz="12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Skip, Get Started, Progress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15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21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4D33A5-46E2-0E7A-F80A-86D725537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1" b="15136"/>
          <a:stretch>
            <a:fillRect/>
          </a:stretch>
        </p:blipFill>
        <p:spPr bwMode="auto">
          <a:xfrm>
            <a:off x="736375" y="374077"/>
            <a:ext cx="2349500" cy="41125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CAD1A-6ECA-636F-7872-B718598F7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92068"/>
              </p:ext>
            </p:extLst>
          </p:nvPr>
        </p:nvGraphicFramePr>
        <p:xfrm>
          <a:off x="736375" y="4530983"/>
          <a:ext cx="11208144" cy="22673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04072">
                  <a:extLst>
                    <a:ext uri="{9D8B030D-6E8A-4147-A177-3AD203B41FA5}">
                      <a16:colId xmlns:a16="http://schemas.microsoft.com/office/drawing/2014/main" val="1443035061"/>
                    </a:ext>
                  </a:extLst>
                </a:gridCol>
                <a:gridCol w="5604072">
                  <a:extLst>
                    <a:ext uri="{9D8B030D-6E8A-4147-A177-3AD203B41FA5}">
                      <a16:colId xmlns:a16="http://schemas.microsoft.com/office/drawing/2014/main" val="1188377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Feature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823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App Logo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application's logo and brand identity.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23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Welcome Back Heading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Greets returning users and indicates they are on the login page.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080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Sign In Subtitle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Informs users that they need to sign in to access their account.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055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Email Address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their registered email address.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249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Password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their account password securely.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2942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Show/Hide Password Icon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Toggles password visibility to help users verify their input.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699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Forgot Password? Link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Redirects users to the password recovery page to reset their password.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3416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Sign In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Authenticates the entered credentials and logs the user into the application.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906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Continue with Google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Enables users to sign in quickly using their Google account.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600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Register Link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Directs new users to the account registration page if they do not already have an account.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90177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DA558C-8F37-A0C4-230C-D4767D3CB170}"/>
              </a:ext>
            </a:extLst>
          </p:cNvPr>
          <p:cNvSpPr txBox="1"/>
          <p:nvPr/>
        </p:nvSpPr>
        <p:spPr>
          <a:xfrm>
            <a:off x="736375" y="0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2.Login Page Features</a:t>
            </a:r>
            <a:endParaRPr lang="en-SG" sz="11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0DD5D-6317-3897-1B1B-D5765A48A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166" y="292865"/>
            <a:ext cx="3854648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6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D6345-1428-8D21-B8DD-0983C1AD3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96573"/>
              </p:ext>
            </p:extLst>
          </p:nvPr>
        </p:nvGraphicFramePr>
        <p:xfrm>
          <a:off x="789273" y="308009"/>
          <a:ext cx="10684044" cy="6329531"/>
        </p:xfrm>
        <a:graphic>
          <a:graphicData uri="http://schemas.openxmlformats.org/drawingml/2006/table">
            <a:tbl>
              <a:tblPr/>
              <a:tblGrid>
                <a:gridCol w="1187116">
                  <a:extLst>
                    <a:ext uri="{9D8B030D-6E8A-4147-A177-3AD203B41FA5}">
                      <a16:colId xmlns:a16="http://schemas.microsoft.com/office/drawing/2014/main" val="1806268225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2192393302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745664392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2452903974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3433890455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135169925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3586085211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1467593431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2614239106"/>
                    </a:ext>
                  </a:extLst>
                </a:gridCol>
              </a:tblGrid>
              <a:tr h="20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UI Element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 Style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596037"/>
                  </a:ext>
                </a:extLst>
              </a:tr>
              <a:tr h="66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Screen Background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Navy Gradient (#121B33 → #1E2B4F)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Small star decorations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95472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Logo (Moon)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~48 × 48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(#5B8DFF)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Crescent Moon 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39574"/>
                  </a:ext>
                </a:extLst>
              </a:tr>
              <a:tr h="38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Welcome back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SF Pro Display (Bold)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34–38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(#FFFFFF)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38341"/>
                  </a:ext>
                </a:extLst>
              </a:tr>
              <a:tr h="38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Sign in to your account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SF Pro Display (Regular)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Light Gray (#9AA3B2)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6686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Email Address Label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(Medium)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Light Gray (#C8CDD8)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383973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Email Input Field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(Regular)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Blue (#2A3654)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Placeholder Gray (#7E8798)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(14–16 px radius)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Input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76395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Password Label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(Medium)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Light Gray (#C8CDD8)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978527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Password Input Field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(Regular)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Blue (#2A3654)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/ Gray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(14–16 px radius)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Eye Visibility 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Password Input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73102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Eye 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(#8C95A5)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Visibility 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62199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Forgot Password?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(Medium)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(#4D8DFF)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Link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17148"/>
                  </a:ext>
                </a:extLst>
              </a:tr>
              <a:tr h="66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Sign In Button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(SemiBold/Bold)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→ Purple Gradient (#5A9CFF → #7357FF)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(#FFFFFF)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Rounded (16–18 </a:t>
                      </a:r>
                      <a:r>
                        <a:rPr lang="en-SG" sz="1100" dirty="0" err="1"/>
                        <a:t>px</a:t>
                      </a:r>
                      <a:r>
                        <a:rPr lang="en-SG" sz="1100" dirty="0"/>
                        <a:t> radius)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Primary Button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688286"/>
                  </a:ext>
                </a:extLst>
              </a:tr>
              <a:tr h="38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Divider ("or continue with")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(Regular)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(#8D96A6)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Horizontal Lines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Divider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593566"/>
                  </a:ext>
                </a:extLst>
              </a:tr>
              <a:tr h="38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Continue with Google Button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(SemiBold)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Blue (#2A3654)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White (#FFFFFF)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Border (16 px)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Google Logo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Secondary Button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02379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Google Logo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20–24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Multi-color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Google "G" Logo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23602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Don't have an account?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(Regular)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(#A5ADBA)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070893"/>
                  </a:ext>
                </a:extLst>
              </a:tr>
              <a:tr h="342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Register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(SemiBold)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Purple (#7B5CFF)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Link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3521" marR="23521" marT="11760" marB="117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353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59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42ED1B-D000-C783-9B13-733476A7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9" y="355235"/>
            <a:ext cx="2406650" cy="5111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F7A7A7-DD1B-1C82-ADC9-9E3F6D276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75590"/>
              </p:ext>
            </p:extLst>
          </p:nvPr>
        </p:nvGraphicFramePr>
        <p:xfrm>
          <a:off x="3192983" y="3791231"/>
          <a:ext cx="8823690" cy="2875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2436">
                  <a:extLst>
                    <a:ext uri="{9D8B030D-6E8A-4147-A177-3AD203B41FA5}">
                      <a16:colId xmlns:a16="http://schemas.microsoft.com/office/drawing/2014/main" val="1634988590"/>
                    </a:ext>
                  </a:extLst>
                </a:gridCol>
                <a:gridCol w="6091254">
                  <a:extLst>
                    <a:ext uri="{9D8B030D-6E8A-4147-A177-3AD203B41FA5}">
                      <a16:colId xmlns:a16="http://schemas.microsoft.com/office/drawing/2014/main" val="2115078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Feature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48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Back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Returns the user to the previous screen or login page.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92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Create Account Title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Indicates that the page is used for new user registration.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33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Profile Photo Placeholder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a default avatar and allows users to upload a profile picture.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349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Tap to Add Photo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Opens the device gallery or camera to select a profile image.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581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Full Name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their full name.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2269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Email Address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a valid email address for account registration.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216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Password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create a secure password (minimum of 8 characters).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2798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Confirm Password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Requires users to re-enter the password to ensure accuracy.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708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Age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their 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428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Gender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select their gender from the available options.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8530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Create Account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Validates the entered information and creates a new user account.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024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Terms and Privacy Policy Notice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Informs users that creating an account means they agree to the application's Terms of Service and Privacy Policy.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80698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ACEE2D-4674-CAB5-B407-17322337D691}"/>
              </a:ext>
            </a:extLst>
          </p:cNvPr>
          <p:cNvSpPr txBox="1"/>
          <p:nvPr/>
        </p:nvSpPr>
        <p:spPr>
          <a:xfrm>
            <a:off x="523959" y="-18842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Create Account Page Features</a:t>
            </a:r>
            <a:endParaRPr lang="en-SG" sz="11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F7B8-C389-BCC4-7146-DD183DFF8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058" y="355235"/>
            <a:ext cx="3816546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1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5ACADE-13F6-02F2-0F0F-13E709881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07258"/>
              </p:ext>
            </p:extLst>
          </p:nvPr>
        </p:nvGraphicFramePr>
        <p:xfrm>
          <a:off x="914400" y="211757"/>
          <a:ext cx="10770669" cy="6426874"/>
        </p:xfrm>
        <a:graphic>
          <a:graphicData uri="http://schemas.openxmlformats.org/drawingml/2006/table">
            <a:tbl>
              <a:tblPr/>
              <a:tblGrid>
                <a:gridCol w="1196741">
                  <a:extLst>
                    <a:ext uri="{9D8B030D-6E8A-4147-A177-3AD203B41FA5}">
                      <a16:colId xmlns:a16="http://schemas.microsoft.com/office/drawing/2014/main" val="2230469838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4187653826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3562184911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1786200767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2549057621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512519055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1296971551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2432016493"/>
                    </a:ext>
                  </a:extLst>
                </a:gridCol>
                <a:gridCol w="1196741">
                  <a:extLst>
                    <a:ext uri="{9D8B030D-6E8A-4147-A177-3AD203B41FA5}">
                      <a16:colId xmlns:a16="http://schemas.microsoft.com/office/drawing/2014/main" val="2102339725"/>
                    </a:ext>
                  </a:extLst>
                </a:gridCol>
              </a:tblGrid>
              <a:tr h="389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Component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Font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Font Size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Background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Text Color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Button/Field Style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Image/Icon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Type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Clickable</a:t>
                      </a:r>
                      <a:endParaRPr lang="en-SG" sz="1200"/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00672"/>
                  </a:ext>
                </a:extLst>
              </a:tr>
              <a:tr h="389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Back Arrow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SF Pro Display / Poppins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20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Left Arrow Icon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Navigation Icon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894171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Create Account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34–36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Heading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04000"/>
                  </a:ext>
                </a:extLst>
              </a:tr>
              <a:tr h="403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Profile Picture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—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72 × 72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Blue–Purple Gradient Circle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Circular Avatar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User Profile Icon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Image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426223"/>
                  </a:ext>
                </a:extLst>
              </a:tr>
              <a:tr h="31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Tap to add photo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#9AA3B2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 Link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950985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Full Name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574289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Full Name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 Input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33331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Email Address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190"/>
                  </a:ext>
                </a:extLst>
              </a:tr>
              <a:tr h="389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Email Address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Email Input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31077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Password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801031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Password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Password Input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46637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Confirm Password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43396"/>
                  </a:ext>
                </a:extLst>
              </a:tr>
              <a:tr h="389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Confirm Password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Password Input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67383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Age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219269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Age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Number Input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298824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Gender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#C7CDD8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Label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71843"/>
                  </a:ext>
                </a:extLst>
              </a:tr>
              <a:tr h="389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Gender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#2A3654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(16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Dropdown/Selection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Selection Field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12980"/>
                  </a:ext>
                </a:extLst>
              </a:tr>
              <a:tr h="754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Create Account Button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SemiBold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20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Blue–Purple Gradient (#5A9CFF → #7357FF)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Button (18 px)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Primary Button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05791"/>
                  </a:ext>
                </a:extLst>
              </a:tr>
              <a:tr h="403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Terms and Privacy Text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13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#8F98A8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Informational Text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03727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Terms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13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#4D8DFF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 Link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Hyperlink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7704"/>
                  </a:ext>
                </a:extLst>
              </a:tr>
              <a:tr h="21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Privacy Policy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13 px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#4D8DFF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 Link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Hyperlink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Yes</a:t>
                      </a:r>
                    </a:p>
                  </a:txBody>
                  <a:tcPr marL="24584" marR="24584" marT="12292" marB="12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43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53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63828A-BFAF-4D7F-6354-04303EC4D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79" y="503252"/>
            <a:ext cx="2400300" cy="5187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2410CF-7254-8DBF-6F51-EFFAECD74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688513"/>
              </p:ext>
            </p:extLst>
          </p:nvPr>
        </p:nvGraphicFramePr>
        <p:xfrm>
          <a:off x="3285366" y="2184850"/>
          <a:ext cx="8503845" cy="4558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4515">
                  <a:extLst>
                    <a:ext uri="{9D8B030D-6E8A-4147-A177-3AD203B41FA5}">
                      <a16:colId xmlns:a16="http://schemas.microsoft.com/office/drawing/2014/main" val="751707492"/>
                    </a:ext>
                  </a:extLst>
                </a:gridCol>
                <a:gridCol w="5429330">
                  <a:extLst>
                    <a:ext uri="{9D8B030D-6E8A-4147-A177-3AD203B41FA5}">
                      <a16:colId xmlns:a16="http://schemas.microsoft.com/office/drawing/2014/main" val="342641727"/>
                    </a:ext>
                  </a:extLst>
                </a:gridCol>
              </a:tblGrid>
              <a:tr h="165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Feature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Description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4013167638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Greeting Section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a personalized greeting based on the time of day along with the user's name.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549366500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Notification Button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Allows users to view notifications, reminders, and alerts related to sleep tracking or the application.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112581668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Profile Button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 dirty="0">
                          <a:effectLst/>
                        </a:rPr>
                        <a:t>Opens the user's profile where personal information and account settings can be managed.</a:t>
                      </a:r>
                      <a:endParaRPr lang="en-SG" sz="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086311407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Today's Sleep Score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the user's current sleep score (e.g., 82/100) along with a quality rating such as Excellent.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86926830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Sleep Score Improvement Indicator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Shows the change in sleep score compared to the previous night (e.g., +7 points vs last night).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402831859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AI Prediction Card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an AI-generated prediction of the expected sleep quality for the upcoming night.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214268853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Prediction Confidence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Indicates the confidence level of the AI prediction (e.g., 94% Confidence).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4216612483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Sleep Forecast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Provides a brief prediction such as Excellent Sleep Expected with an option to view detailed analysis.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9050438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Quick Stats Section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a summary of today's important sleep-related metrics.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587603550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Sleep Duration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Shows the total amount of sleep recorded (e.g., 7.5 hours).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081981655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Stress Level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the user's current stress level or stress score.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266836586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Screen Time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Shows the total screen usage duration before sleep (e.g., 1.2 hours).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4212110065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Caffeine Intake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the number of caffeinated drinks consumed (e.g., 1 cup).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3810339760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Daily Activity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Shows the number of steps or physical activity completed during the day (e.g., 8,420 steps).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772908525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7-Day Trend Graph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a graphical overview of the user's sleep score or sleep quality over the past seven days.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552786835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View All (Trend)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Opens a detailed report containing historical sleep trends and analytics.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1780957939"/>
                  </a:ext>
                </a:extLst>
              </a:tr>
              <a:tr h="3228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Today's Tips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Displays personalized recommendations to improve sleep quality (e.g., Sleep 30 minutes earlier).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2688889822"/>
                  </a:ext>
                </a:extLst>
              </a:tr>
              <a:tr h="165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>
                          <a:effectLst/>
                        </a:rPr>
                        <a:t>See All (Tips)</a:t>
                      </a:r>
                      <a:endParaRPr lang="en-SG" sz="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900" kern="0" dirty="0">
                          <a:effectLst/>
                        </a:rPr>
                        <a:t>Opens the complete list of personalized sleep improvement recommendations.</a:t>
                      </a:r>
                      <a:endParaRPr lang="en-SG" sz="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3" marR="7323" marT="7323" marB="7323" anchor="ctr"/>
                </a:tc>
                <a:extLst>
                  <a:ext uri="{0D108BD9-81ED-4DB2-BD59-A6C34878D82A}">
                    <a16:rowId xmlns:a16="http://schemas.microsoft.com/office/drawing/2014/main" val="23364422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2C89FD-BA78-AEB2-C5ED-D36430137144}"/>
              </a:ext>
            </a:extLst>
          </p:cNvPr>
          <p:cNvSpPr txBox="1"/>
          <p:nvPr/>
        </p:nvSpPr>
        <p:spPr>
          <a:xfrm>
            <a:off x="598979" y="0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Home Dashboard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A008B5-53D7-575C-B7CB-A8DDA5F2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18"/>
          <a:stretch>
            <a:fillRect/>
          </a:stretch>
        </p:blipFill>
        <p:spPr>
          <a:xfrm>
            <a:off x="4206778" y="114594"/>
            <a:ext cx="3778444" cy="196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3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F5D2FD-F589-6EA9-8A6A-E7280CE69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938215"/>
              </p:ext>
            </p:extLst>
          </p:nvPr>
        </p:nvGraphicFramePr>
        <p:xfrm>
          <a:off x="558265" y="125128"/>
          <a:ext cx="11165310" cy="6682329"/>
        </p:xfrm>
        <a:graphic>
          <a:graphicData uri="http://schemas.openxmlformats.org/drawingml/2006/table">
            <a:tbl>
              <a:tblPr/>
              <a:tblGrid>
                <a:gridCol w="1240590">
                  <a:extLst>
                    <a:ext uri="{9D8B030D-6E8A-4147-A177-3AD203B41FA5}">
                      <a16:colId xmlns:a16="http://schemas.microsoft.com/office/drawing/2014/main" val="3414516389"/>
                    </a:ext>
                  </a:extLst>
                </a:gridCol>
                <a:gridCol w="1240590">
                  <a:extLst>
                    <a:ext uri="{9D8B030D-6E8A-4147-A177-3AD203B41FA5}">
                      <a16:colId xmlns:a16="http://schemas.microsoft.com/office/drawing/2014/main" val="3867124281"/>
                    </a:ext>
                  </a:extLst>
                </a:gridCol>
                <a:gridCol w="926163">
                  <a:extLst>
                    <a:ext uri="{9D8B030D-6E8A-4147-A177-3AD203B41FA5}">
                      <a16:colId xmlns:a16="http://schemas.microsoft.com/office/drawing/2014/main" val="397558161"/>
                    </a:ext>
                  </a:extLst>
                </a:gridCol>
                <a:gridCol w="1555017">
                  <a:extLst>
                    <a:ext uri="{9D8B030D-6E8A-4147-A177-3AD203B41FA5}">
                      <a16:colId xmlns:a16="http://schemas.microsoft.com/office/drawing/2014/main" val="3990353282"/>
                    </a:ext>
                  </a:extLst>
                </a:gridCol>
                <a:gridCol w="1140057">
                  <a:extLst>
                    <a:ext uri="{9D8B030D-6E8A-4147-A177-3AD203B41FA5}">
                      <a16:colId xmlns:a16="http://schemas.microsoft.com/office/drawing/2014/main" val="1256529111"/>
                    </a:ext>
                  </a:extLst>
                </a:gridCol>
                <a:gridCol w="1405289">
                  <a:extLst>
                    <a:ext uri="{9D8B030D-6E8A-4147-A177-3AD203B41FA5}">
                      <a16:colId xmlns:a16="http://schemas.microsoft.com/office/drawing/2014/main" val="242630972"/>
                    </a:ext>
                  </a:extLst>
                </a:gridCol>
                <a:gridCol w="1424538">
                  <a:extLst>
                    <a:ext uri="{9D8B030D-6E8A-4147-A177-3AD203B41FA5}">
                      <a16:colId xmlns:a16="http://schemas.microsoft.com/office/drawing/2014/main" val="2877814228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1976053456"/>
                    </a:ext>
                  </a:extLst>
                </a:gridCol>
                <a:gridCol w="885529">
                  <a:extLst>
                    <a:ext uri="{9D8B030D-6E8A-4147-A177-3AD203B41FA5}">
                      <a16:colId xmlns:a16="http://schemas.microsoft.com/office/drawing/2014/main" val="1404530836"/>
                    </a:ext>
                  </a:extLst>
                </a:gridCol>
              </a:tblGrid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Component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Font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Font Size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Background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Text Color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Button/Card Style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Image/Icon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Type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/>
                        <a:t>Clickable</a:t>
                      </a:r>
                      <a:endParaRPr lang="en-SG" sz="120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20072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Greeting Text ("Good evening")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#A5ADBA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158563"/>
                  </a:ext>
                </a:extLst>
              </a:tr>
              <a:tr h="354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User Name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34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#FFFFFF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Heading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474887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Wave Emoji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Default Emoji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Multi-color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👋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Emoji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35830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Notification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SF Symbols / Material Icons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Dark Blue (#243456)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Circular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Bell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1148"/>
                  </a:ext>
                </a:extLst>
              </a:tr>
              <a:tr h="354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Profile Avatar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—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48 × 48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Blue–Purple Gradient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Circular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User Avatar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Image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995487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Sleep Score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16–18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#243456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Card (20 px)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Circular Progress Indicator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Information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052022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Sleep Score Number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42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Green (#4CD964)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Statistic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38653"/>
                  </a:ext>
                </a:extLst>
              </a:tr>
              <a:tr h="233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Sleep Score Status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32 </a:t>
                      </a:r>
                      <a:r>
                        <a:rPr lang="en-SG" sz="1200" dirty="0" err="1"/>
                        <a:t>px</a:t>
                      </a:r>
                      <a:endParaRPr lang="en-SG" sz="1200" dirty="0"/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Status Text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09384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Progress Ring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—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110 × 110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Circular Ring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Progress Indicator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Graphic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509839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Improvement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15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Green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#4CD964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Green Dot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623706"/>
                  </a:ext>
                </a:extLst>
              </a:tr>
              <a:tr h="233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AI Prediction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16–18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#1F2947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Sparkle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Information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845224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Confidence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SemiBold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Green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#4CD964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Status Badge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12032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Forecast Title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28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Heading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725977"/>
                  </a:ext>
                </a:extLst>
              </a:tr>
              <a:tr h="36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Prediction Message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SemiBold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22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Sparkle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Text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932531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Tap for Analysis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Regular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#8D96A6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Arrow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Link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54386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Quick Stats Title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Heading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32665"/>
                  </a:ext>
                </a:extLst>
              </a:tr>
              <a:tr h="522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Quick Stats Cards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#1F2947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Cards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Moon, Face, Phone, Coffee, Walk Icons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Statistic Cards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174473"/>
                  </a:ext>
                </a:extLst>
              </a:tr>
              <a:tr h="233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7-Day Trend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#1F2947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Line Chart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Chart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777718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View All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#5A9CFF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Arrow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Link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868528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Trend Graph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—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Auto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Blue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Line Graph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Chart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Graph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85740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Today's Tips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Bold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#1F2947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Rounded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Moon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Information Card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65656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See All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16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#5A9CFF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Arrow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Link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Yes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545953"/>
                  </a:ext>
                </a:extLst>
              </a:tr>
              <a:tr h="18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Sleep Tip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Poppins Medium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18 px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Transparent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White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None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Moon Icon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Recommendation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No</a:t>
                      </a:r>
                    </a:p>
                  </a:txBody>
                  <a:tcPr marL="20145" marR="20145" marT="10073" marB="100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45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87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F5502B-B043-C210-6298-1D44359E3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59" y="512271"/>
            <a:ext cx="2349500" cy="528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249851-ED28-6304-1A0E-8C6D13316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02626"/>
              </p:ext>
            </p:extLst>
          </p:nvPr>
        </p:nvGraphicFramePr>
        <p:xfrm>
          <a:off x="2994052" y="2532979"/>
          <a:ext cx="9031386" cy="4245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4139">
                  <a:extLst>
                    <a:ext uri="{9D8B030D-6E8A-4147-A177-3AD203B41FA5}">
                      <a16:colId xmlns:a16="http://schemas.microsoft.com/office/drawing/2014/main" val="2956648274"/>
                    </a:ext>
                  </a:extLst>
                </a:gridCol>
                <a:gridCol w="5317247">
                  <a:extLst>
                    <a:ext uri="{9D8B030D-6E8A-4147-A177-3AD203B41FA5}">
                      <a16:colId xmlns:a16="http://schemas.microsoft.com/office/drawing/2014/main" val="3949312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Feature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122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Sleep Log Title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Indicates that the page is used to record and review the user's daily sleep information.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5834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Date Display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Shows the selected date for the sleep log entry (e.g., Tuesday, July 22).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2838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Sleep Duration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total number of hours slept (e.g., 7 hours) along with a visual progress bar.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912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Sleep Duration Progress Bar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Provides a graphical representation of the user's sleep duration compared to the recommended sleep goal.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624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Bedtime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or allows the user to select the time they went to bed (e.g., 10:30 PM).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989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Wake-Up Time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or allows the user to select the time they woke up (e.g., 06:00 AM).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128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Screen Time Before Sleep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record the amount of screen usage before bedtime (e.g., 1–2 hours).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628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Physical Activity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record their daily physical activity level and duration (e.g., Moderate (30 min)).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958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Stress Level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or allows users to select their stress level using a numeric scale and visual indicator (e.g., 4).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8879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Caffeine Intake Field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record the amount and timing of caffeine consumed (e.g., 1 cup (morning)).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6184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Notes Section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users to enter personal notes about how they are feeling or any factors that may affect their sleep.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786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Predict My Sleep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Submits the entered sleep-related information to generate an AI-based sleep quality prediction and recommendations.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75697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345A63C-26C0-1255-ACE8-70E476528678}"/>
              </a:ext>
            </a:extLst>
          </p:cNvPr>
          <p:cNvSpPr txBox="1"/>
          <p:nvPr/>
        </p:nvSpPr>
        <p:spPr>
          <a:xfrm>
            <a:off x="543459" y="79792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Sleep Log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0E700-ABB8-1CA2-8709-7374FE34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153" y="88103"/>
            <a:ext cx="3797495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8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A05B33-B8A4-1129-E720-72BB1E88E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93558"/>
              </p:ext>
            </p:extLst>
          </p:nvPr>
        </p:nvGraphicFramePr>
        <p:xfrm>
          <a:off x="741145" y="211756"/>
          <a:ext cx="11049804" cy="6473704"/>
        </p:xfrm>
        <a:graphic>
          <a:graphicData uri="http://schemas.openxmlformats.org/drawingml/2006/table">
            <a:tbl>
              <a:tblPr/>
              <a:tblGrid>
                <a:gridCol w="1347537">
                  <a:extLst>
                    <a:ext uri="{9D8B030D-6E8A-4147-A177-3AD203B41FA5}">
                      <a16:colId xmlns:a16="http://schemas.microsoft.com/office/drawing/2014/main" val="862334105"/>
                    </a:ext>
                  </a:extLst>
                </a:gridCol>
                <a:gridCol w="1434164">
                  <a:extLst>
                    <a:ext uri="{9D8B030D-6E8A-4147-A177-3AD203B41FA5}">
                      <a16:colId xmlns:a16="http://schemas.microsoft.com/office/drawing/2014/main" val="1308200290"/>
                    </a:ext>
                  </a:extLst>
                </a:gridCol>
                <a:gridCol w="901567">
                  <a:extLst>
                    <a:ext uri="{9D8B030D-6E8A-4147-A177-3AD203B41FA5}">
                      <a16:colId xmlns:a16="http://schemas.microsoft.com/office/drawing/2014/main" val="1594346830"/>
                    </a:ext>
                  </a:extLst>
                </a:gridCol>
                <a:gridCol w="879107">
                  <a:extLst>
                    <a:ext uri="{9D8B030D-6E8A-4147-A177-3AD203B41FA5}">
                      <a16:colId xmlns:a16="http://schemas.microsoft.com/office/drawing/2014/main" val="2218957238"/>
                    </a:ext>
                  </a:extLst>
                </a:gridCol>
                <a:gridCol w="1357162">
                  <a:extLst>
                    <a:ext uri="{9D8B030D-6E8A-4147-A177-3AD203B41FA5}">
                      <a16:colId xmlns:a16="http://schemas.microsoft.com/office/drawing/2014/main" val="202338072"/>
                    </a:ext>
                  </a:extLst>
                </a:gridCol>
                <a:gridCol w="1446999">
                  <a:extLst>
                    <a:ext uri="{9D8B030D-6E8A-4147-A177-3AD203B41FA5}">
                      <a16:colId xmlns:a16="http://schemas.microsoft.com/office/drawing/2014/main" val="142895786"/>
                    </a:ext>
                  </a:extLst>
                </a:gridCol>
                <a:gridCol w="1227756">
                  <a:extLst>
                    <a:ext uri="{9D8B030D-6E8A-4147-A177-3AD203B41FA5}">
                      <a16:colId xmlns:a16="http://schemas.microsoft.com/office/drawing/2014/main" val="1565430476"/>
                    </a:ext>
                  </a:extLst>
                </a:gridCol>
                <a:gridCol w="1227756">
                  <a:extLst>
                    <a:ext uri="{9D8B030D-6E8A-4147-A177-3AD203B41FA5}">
                      <a16:colId xmlns:a16="http://schemas.microsoft.com/office/drawing/2014/main" val="1710548941"/>
                    </a:ext>
                  </a:extLst>
                </a:gridCol>
                <a:gridCol w="1227756">
                  <a:extLst>
                    <a:ext uri="{9D8B030D-6E8A-4147-A177-3AD203B41FA5}">
                      <a16:colId xmlns:a16="http://schemas.microsoft.com/office/drawing/2014/main" val="2712553136"/>
                    </a:ext>
                  </a:extLst>
                </a:gridCol>
              </a:tblGrid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7363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Page Title (Sleep Log)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30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07698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Date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#9CA3AF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052507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Duration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89622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Sleep Duration Value 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#4F8EF7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653495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Duration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Bar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44572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Progress Bar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—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Auto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Blue–Purple Gradient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Progress Bar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Indicator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Graphic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054655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Bedtime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Rounded Card (18 </a:t>
                      </a:r>
                      <a:r>
                        <a:rPr lang="en-SG" sz="1100" dirty="0" err="1"/>
                        <a:t>px</a:t>
                      </a:r>
                      <a:r>
                        <a:rPr lang="en-SG" sz="1100" dirty="0"/>
                        <a:t>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Icon, Clock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727624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Bedtime Time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Time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977933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Wake Up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Sun Icon, Clock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566719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Wake Up Time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Time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01463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Screen Time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Phone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05905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Screen Time Field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#27324A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Input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Phone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Input Field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22842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Physical Activity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Walk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00890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Physical Activity Field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#27324A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Input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Activity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Dropdown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36823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Stress Level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Face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3666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Stress Level Value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#4F8EF7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81855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Stress Slider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Auto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Purple Gradient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Slider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Indicator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Slider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857558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Caffeine Intake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Coffee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627782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Caffeine Intake Field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#27324A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Input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Coffee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Dropdown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62114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Notes 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Notes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436289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Notes Text Area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#6B7280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Text Area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Notes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Multiline Input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140704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Predict My Sleep Button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Blue–Purple Gradient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Button (20 px)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Arrow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Primary Button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91085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 Arrow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Arrow 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86820"/>
                  </a:ext>
                </a:extLst>
              </a:tr>
              <a:tr h="161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Main Container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Auto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#111827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Layout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Container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94396"/>
                  </a:ext>
                </a:extLst>
              </a:tr>
              <a:tr h="300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Cards (18–20 px)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Various Icons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94745"/>
                  </a:ext>
                </a:extLst>
              </a:tr>
              <a:tr h="508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Icons (Moon, Sun, Coffee, Activity, Notes, Clock)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SF Symbols / Material Icons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18–22 px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Flat Icons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6866" marR="16866" marT="8433" marB="84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0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05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66D5F-C4B9-9FC0-D5DE-6706722EE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21" y="424945"/>
            <a:ext cx="1905000" cy="42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9AA4E6-6727-E6B6-6B0D-9E5231FC1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41" b="9389"/>
          <a:stretch>
            <a:fillRect/>
          </a:stretch>
        </p:blipFill>
        <p:spPr bwMode="auto">
          <a:xfrm>
            <a:off x="652421" y="4043492"/>
            <a:ext cx="1905000" cy="17784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7FCB32-B3A9-F846-1881-55D192F5C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046780"/>
              </p:ext>
            </p:extLst>
          </p:nvPr>
        </p:nvGraphicFramePr>
        <p:xfrm>
          <a:off x="2639527" y="3248800"/>
          <a:ext cx="9393330" cy="3570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8420">
                  <a:extLst>
                    <a:ext uri="{9D8B030D-6E8A-4147-A177-3AD203B41FA5}">
                      <a16:colId xmlns:a16="http://schemas.microsoft.com/office/drawing/2014/main" val="3682870224"/>
                    </a:ext>
                  </a:extLst>
                </a:gridCol>
                <a:gridCol w="6524910">
                  <a:extLst>
                    <a:ext uri="{9D8B030D-6E8A-4147-A177-3AD203B41FA5}">
                      <a16:colId xmlns:a16="http://schemas.microsoft.com/office/drawing/2014/main" val="3481534719"/>
                    </a:ext>
                  </a:extLst>
                </a:gridCol>
              </a:tblGrid>
              <a:tr h="1833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Feature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Description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096159090"/>
                  </a:ext>
                </a:extLst>
              </a:tr>
              <a:tr h="3576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AI Analysis 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Indicates that the page provides an AI-generated analysis of the user's sleep quality based on the recorded sleep data.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4069871583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Score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overall sleep quality score (e.g., 82/100) generated by the AI model.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785363403"/>
                  </a:ext>
                </a:extLst>
              </a:tr>
              <a:tr h="1833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Score Indicator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Provides a circular progress indicator that visually represents the user's sleep score.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562037878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Quality Status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AI's overall assessment of the user's sleep quality (e.g., Excellent Sleep).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260400411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Analysis Basis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Indicates that the sleep analysis is generated using the user's sleep data collected for the current night.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17170792"/>
                  </a:ext>
                </a:extLst>
              </a:tr>
              <a:tr h="3576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 dirty="0">
                          <a:effectLst/>
                        </a:rPr>
                        <a:t>AI Confidence Level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confidence percentage of the AI prediction (e.g., 94%), indicating how reliable the generated analysis is.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3751412778"/>
                  </a:ext>
                </a:extLst>
              </a:tr>
              <a:tr h="3576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Strengths Section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Highlights positive sleep-related behaviors detected from the user's data, such as consistent bedtime, low stress levels, and adequate physical activity.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646244780"/>
                  </a:ext>
                </a:extLst>
              </a:tr>
              <a:tr h="3576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Needs Improvement Section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Identifies habits that may negatively affect sleep quality, such as excessive screen time before bed and late caffeine intake.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378065180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Tonight's Recommendations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personalized AI-generated recommendations to improve future sleep quality.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910274095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Expected Improvement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Shows the estimated increase in sleep score that each recommendation may contribute (e.g., +8 pts expected).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3585558089"/>
                  </a:ext>
                </a:extLst>
              </a:tr>
              <a:tr h="3576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Recommendation Items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Provides actionable suggestions such as improving bedtime routine, reducing caffeine intake after 2 PM, and practicing a short meditation before sleep.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628762980"/>
                  </a:ext>
                </a:extLst>
              </a:tr>
              <a:tr h="2254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Save Result Button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 dirty="0">
                          <a:effectLst/>
                        </a:rPr>
                        <a:t>Allows users to save the AI analysis results and recommendations for future review and historical tracking.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0074841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E8074A-3BA6-32EF-7112-203231DE0A27}"/>
              </a:ext>
            </a:extLst>
          </p:cNvPr>
          <p:cNvSpPr txBox="1"/>
          <p:nvPr/>
        </p:nvSpPr>
        <p:spPr>
          <a:xfrm>
            <a:off x="652421" y="0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AI Analysis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4FE8A4-0EF2-8AAF-39DE-D972ED0B2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550" y="450236"/>
            <a:ext cx="3835597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7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9A82BE-6A27-6F5A-FC0B-472DC0501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52890"/>
              </p:ext>
            </p:extLst>
          </p:nvPr>
        </p:nvGraphicFramePr>
        <p:xfrm>
          <a:off x="365760" y="250259"/>
          <a:ext cx="11559942" cy="6408973"/>
        </p:xfrm>
        <a:graphic>
          <a:graphicData uri="http://schemas.openxmlformats.org/drawingml/2006/table">
            <a:tbl>
              <a:tblPr/>
              <a:tblGrid>
                <a:gridCol w="1284438">
                  <a:extLst>
                    <a:ext uri="{9D8B030D-6E8A-4147-A177-3AD203B41FA5}">
                      <a16:colId xmlns:a16="http://schemas.microsoft.com/office/drawing/2014/main" val="71236758"/>
                    </a:ext>
                  </a:extLst>
                </a:gridCol>
                <a:gridCol w="1641642">
                  <a:extLst>
                    <a:ext uri="{9D8B030D-6E8A-4147-A177-3AD203B41FA5}">
                      <a16:colId xmlns:a16="http://schemas.microsoft.com/office/drawing/2014/main" val="33575917"/>
                    </a:ext>
                  </a:extLst>
                </a:gridCol>
                <a:gridCol w="927234">
                  <a:extLst>
                    <a:ext uri="{9D8B030D-6E8A-4147-A177-3AD203B41FA5}">
                      <a16:colId xmlns:a16="http://schemas.microsoft.com/office/drawing/2014/main" val="3382632247"/>
                    </a:ext>
                  </a:extLst>
                </a:gridCol>
                <a:gridCol w="1353953">
                  <a:extLst>
                    <a:ext uri="{9D8B030D-6E8A-4147-A177-3AD203B41FA5}">
                      <a16:colId xmlns:a16="http://schemas.microsoft.com/office/drawing/2014/main" val="844056792"/>
                    </a:ext>
                  </a:extLst>
                </a:gridCol>
                <a:gridCol w="1214923">
                  <a:extLst>
                    <a:ext uri="{9D8B030D-6E8A-4147-A177-3AD203B41FA5}">
                      <a16:colId xmlns:a16="http://schemas.microsoft.com/office/drawing/2014/main" val="4139177255"/>
                    </a:ext>
                  </a:extLst>
                </a:gridCol>
                <a:gridCol w="1624530">
                  <a:extLst>
                    <a:ext uri="{9D8B030D-6E8A-4147-A177-3AD203B41FA5}">
                      <a16:colId xmlns:a16="http://schemas.microsoft.com/office/drawing/2014/main" val="1247881378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690032824"/>
                    </a:ext>
                  </a:extLst>
                </a:gridCol>
                <a:gridCol w="1472665">
                  <a:extLst>
                    <a:ext uri="{9D8B030D-6E8A-4147-A177-3AD203B41FA5}">
                      <a16:colId xmlns:a16="http://schemas.microsoft.com/office/drawing/2014/main" val="2115239153"/>
                    </a:ext>
                  </a:extLst>
                </a:gridCol>
                <a:gridCol w="885525">
                  <a:extLst>
                    <a:ext uri="{9D8B030D-6E8A-4147-A177-3AD203B41FA5}">
                      <a16:colId xmlns:a16="http://schemas.microsoft.com/office/drawing/2014/main" val="2426338517"/>
                    </a:ext>
                  </a:extLst>
                </a:gridCol>
              </a:tblGrid>
              <a:tr h="170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63197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Page Title (AI Analysis)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799386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 Arrow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SF Symbols / Material Icons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Arrow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36915"/>
                  </a:ext>
                </a:extLst>
              </a:tr>
              <a:tr h="170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Decorative Stars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Auto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#8B7CFF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Star Dots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Graphic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93688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Score Circle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120 × 120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Green (#4CD964)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Progress Ring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Indicator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Graphic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428057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Score Number (82)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38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#4CD964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007406"/>
                  </a:ext>
                </a:extLst>
              </a:tr>
              <a:tr h="18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Score Value (/100)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#A5ADBA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61858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Status (Excellent Sleep)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28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Status Text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007525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 (Based on tonight's data)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#8D96A6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987453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Confidence Badge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#4B2A77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#C084FC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Rounded Badge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AI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Status Badge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226314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Analysis Card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Information Card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684359"/>
                  </a:ext>
                </a:extLst>
              </a:tr>
              <a:tr h="18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Analysis Title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77362"/>
                  </a:ext>
                </a:extLst>
              </a:tr>
              <a:tr h="170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Strengths Label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#8D96A6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Label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226377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Good Bedtime Consistency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Green Check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List Item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199509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Low Stress Levels Today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Green Check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List Item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36029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Adequate Physical Activity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Green Check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List Item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65584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High Screen Time Before Bed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Warning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List Item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76577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Evening Caffeine Intake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Warning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List Item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6225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Recommendations Card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#1F2947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24728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Improve Bedtime Routine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34816"/>
                  </a:ext>
                </a:extLst>
              </a:tr>
              <a:tr h="326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Save Result Button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Blue–Purple Gradient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Button (20 px)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Save Icon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Primary Button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5214" marR="15214" marT="7607" marB="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35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A4465F-A157-1CF5-2400-67696D1BB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43" y="549696"/>
            <a:ext cx="1892300" cy="414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97D986-DD49-9527-4E86-E71107C4B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633439"/>
              </p:ext>
            </p:extLst>
          </p:nvPr>
        </p:nvGraphicFramePr>
        <p:xfrm>
          <a:off x="2809398" y="2717177"/>
          <a:ext cx="9186859" cy="4047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0311">
                  <a:extLst>
                    <a:ext uri="{9D8B030D-6E8A-4147-A177-3AD203B41FA5}">
                      <a16:colId xmlns:a16="http://schemas.microsoft.com/office/drawing/2014/main" val="2077030698"/>
                    </a:ext>
                  </a:extLst>
                </a:gridCol>
                <a:gridCol w="6086548">
                  <a:extLst>
                    <a:ext uri="{9D8B030D-6E8A-4147-A177-3AD203B41FA5}">
                      <a16:colId xmlns:a16="http://schemas.microsoft.com/office/drawing/2014/main" val="4175578254"/>
                    </a:ext>
                  </a:extLst>
                </a:gridCol>
              </a:tblGrid>
              <a:tr h="1819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Feature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Description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267312692"/>
                  </a:ext>
                </a:extLst>
              </a:tr>
              <a:tr h="3542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Analytics 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Indicates that the page provides analytical insights into the user's sleep patterns and overall sleep performance.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3530388623"/>
                  </a:ext>
                </a:extLst>
              </a:tr>
              <a:tr h="3250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Subtitle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 brief description informing users that the page contains their sleep insights.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2272222049"/>
                  </a:ext>
                </a:extLst>
              </a:tr>
              <a:tr h="3542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Time Period Selector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switch between different analysis periods (e.g., This Week and This Month) to view sleep trends over time.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043896770"/>
                  </a:ext>
                </a:extLst>
              </a:tr>
              <a:tr h="3542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Score Chart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 bar chart showing the user's sleep score progression across the selected time period (e.g., Week 1–Week 4).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4190445141"/>
                  </a:ext>
                </a:extLst>
              </a:tr>
              <a:tr h="3250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Duration Chart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 bar chart illustrating average sleep duration (in hours) for each day within the selected period.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3526936249"/>
                  </a:ext>
                </a:extLst>
              </a:tr>
              <a:tr h="3250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Stress Level Chart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 line graph showing daily stress levels, allowing users to observe fluctuations over time.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3864902397"/>
                  </a:ext>
                </a:extLst>
              </a:tr>
              <a:tr h="1819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Average Sleep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average sleep duration for the selected period (e.g., 7.3 hours).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48669048"/>
                  </a:ext>
                </a:extLst>
              </a:tr>
              <a:tr h="1819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Best Day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Highlights the day with the highest sleep quality or sleep score (e.g., Saturday).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2776688143"/>
                  </a:ext>
                </a:extLst>
              </a:tr>
              <a:tr h="1819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Worst Day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Identifies the day with the lowest sleep quality or sleep score (e.g., Friday).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670705788"/>
                  </a:ext>
                </a:extLst>
              </a:tr>
              <a:tr h="3250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Average Stress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average stress level calculated from the recorded sleep logs (e.g., 4.3).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315113728"/>
                  </a:ext>
                </a:extLst>
              </a:tr>
              <a:tr h="1819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Average Sleep Score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average AI-generated sleep score for the selected period (e.g., 75).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2135492995"/>
                  </a:ext>
                </a:extLst>
              </a:tr>
              <a:tr h="3250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Streak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number of consecutive days the user has consistently recorded sleep data (e.g., 7-day streak).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045467310"/>
                  </a:ext>
                </a:extLst>
              </a:tr>
              <a:tr h="3542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Bottom Navigation Bar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 dirty="0">
                          <a:effectLst/>
                        </a:rPr>
                        <a:t>Provides navigation to the main sections of the application, including Home, Sleep Log, Analytics, and Profile.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45" marR="8945" marT="8945" marB="8945" anchor="ctr"/>
                </a:tc>
                <a:extLst>
                  <a:ext uri="{0D108BD9-81ED-4DB2-BD59-A6C34878D82A}">
                    <a16:rowId xmlns:a16="http://schemas.microsoft.com/office/drawing/2014/main" val="16191850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F8CC4C-8610-ABC4-A6F2-434DB8638697}"/>
              </a:ext>
            </a:extLst>
          </p:cNvPr>
          <p:cNvSpPr txBox="1"/>
          <p:nvPr/>
        </p:nvSpPr>
        <p:spPr>
          <a:xfrm>
            <a:off x="585043" y="88090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Analytics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D9A39-D069-EBB1-9B28-59E4A3AAC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198" y="484715"/>
            <a:ext cx="3759393" cy="220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4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E13948-FE63-3B4C-8F01-4501BB8FD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0766"/>
              </p:ext>
            </p:extLst>
          </p:nvPr>
        </p:nvGraphicFramePr>
        <p:xfrm>
          <a:off x="567891" y="144380"/>
          <a:ext cx="11328936" cy="6628092"/>
        </p:xfrm>
        <a:graphic>
          <a:graphicData uri="http://schemas.openxmlformats.org/drawingml/2006/table">
            <a:tbl>
              <a:tblPr/>
              <a:tblGrid>
                <a:gridCol w="1371664">
                  <a:extLst>
                    <a:ext uri="{9D8B030D-6E8A-4147-A177-3AD203B41FA5}">
                      <a16:colId xmlns:a16="http://schemas.microsoft.com/office/drawing/2014/main" val="4246959754"/>
                    </a:ext>
                  </a:extLst>
                </a:gridCol>
                <a:gridCol w="1544393">
                  <a:extLst>
                    <a:ext uri="{9D8B030D-6E8A-4147-A177-3AD203B41FA5}">
                      <a16:colId xmlns:a16="http://schemas.microsoft.com/office/drawing/2014/main" val="1416113619"/>
                    </a:ext>
                  </a:extLst>
                </a:gridCol>
                <a:gridCol w="683791">
                  <a:extLst>
                    <a:ext uri="{9D8B030D-6E8A-4147-A177-3AD203B41FA5}">
                      <a16:colId xmlns:a16="http://schemas.microsoft.com/office/drawing/2014/main" val="3166950409"/>
                    </a:ext>
                  </a:extLst>
                </a:gridCol>
                <a:gridCol w="1452168">
                  <a:extLst>
                    <a:ext uri="{9D8B030D-6E8A-4147-A177-3AD203B41FA5}">
                      <a16:colId xmlns:a16="http://schemas.microsoft.com/office/drawing/2014/main" val="2105922781"/>
                    </a:ext>
                  </a:extLst>
                </a:gridCol>
                <a:gridCol w="1050400">
                  <a:extLst>
                    <a:ext uri="{9D8B030D-6E8A-4147-A177-3AD203B41FA5}">
                      <a16:colId xmlns:a16="http://schemas.microsoft.com/office/drawing/2014/main" val="1987436105"/>
                    </a:ext>
                  </a:extLst>
                </a:gridCol>
                <a:gridCol w="1578544">
                  <a:extLst>
                    <a:ext uri="{9D8B030D-6E8A-4147-A177-3AD203B41FA5}">
                      <a16:colId xmlns:a16="http://schemas.microsoft.com/office/drawing/2014/main" val="432400262"/>
                    </a:ext>
                  </a:extLst>
                </a:gridCol>
                <a:gridCol w="1145406">
                  <a:extLst>
                    <a:ext uri="{9D8B030D-6E8A-4147-A177-3AD203B41FA5}">
                      <a16:colId xmlns:a16="http://schemas.microsoft.com/office/drawing/2014/main" val="103635794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1242410592"/>
                    </a:ext>
                  </a:extLst>
                </a:gridCol>
                <a:gridCol w="1155033">
                  <a:extLst>
                    <a:ext uri="{9D8B030D-6E8A-4147-A177-3AD203B41FA5}">
                      <a16:colId xmlns:a16="http://schemas.microsoft.com/office/drawing/2014/main" val="1736062479"/>
                    </a:ext>
                  </a:extLst>
                </a:gridCol>
              </a:tblGrid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828529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Page Title (Analytics)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950467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Subtitle (Your Sleep Insights)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730736"/>
                  </a:ext>
                </a:extLst>
              </a:tr>
              <a:tr h="512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Week Toggle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</a:t>
                      </a:r>
                      <a:r>
                        <a:rPr lang="en-SG" sz="1100" dirty="0" err="1"/>
                        <a:t>SemiBold</a:t>
                      </a:r>
                      <a:endParaRPr lang="en-SG" sz="1100" dirty="0"/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Blue–Purple Gradient (#5B8CFF → #8B5CF6)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Pill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05704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Month Toggle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#232D45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Pill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Button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781892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Score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Line Chart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43493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Score Title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15 </a:t>
                      </a:r>
                      <a:r>
                        <a:rPr lang="en-SG" sz="1100" dirty="0" err="1"/>
                        <a:t>px</a:t>
                      </a:r>
                      <a:endParaRPr lang="en-SG" sz="1100" dirty="0"/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Title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354462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Score Graph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Auto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(#5B8CFF)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Line Chart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Graph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74089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Duration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Bar Chart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22760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Stress Level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(20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Line Chart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364115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 err="1"/>
                        <a:t>Avg</a:t>
                      </a:r>
                      <a:r>
                        <a:rPr lang="en-SG" sz="1100" dirty="0"/>
                        <a:t> Sleep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Rounded Card (16 </a:t>
                      </a:r>
                      <a:r>
                        <a:rPr lang="en-SG" sz="1100" dirty="0" err="1"/>
                        <a:t>px</a:t>
                      </a:r>
                      <a:r>
                        <a:rPr lang="en-SG" sz="1100" dirty="0"/>
                        <a:t>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29346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Best Day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(16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Star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5311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Best Day Label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69826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Worst Day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(16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Sad Face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1199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Worst Day Label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95462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Avg Stress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(16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Neutral Face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657400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Avg Stress Label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04853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Avg Score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(16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Bar Chart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607722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Avg Score Label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7160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Streak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(16 px)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Fire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 Card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02290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Home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#6B7280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Bottom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Home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95721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Log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#6B7280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Bottom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Clipboard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684611"/>
                  </a:ext>
                </a:extLst>
              </a:tr>
              <a:tr h="347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Analytics Navigation (Active)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#5B8CFF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Bottom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Analytics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142394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Profile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#6B7280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Bottom 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Profile Icon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6608" marR="16608" marT="8304" marB="8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28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5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623CE7-628D-2E5D-4057-540836902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41" y="634410"/>
            <a:ext cx="1930400" cy="4197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A921B6-EBC9-E35E-3C1A-2885552A4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163945"/>
              </p:ext>
            </p:extLst>
          </p:nvPr>
        </p:nvGraphicFramePr>
        <p:xfrm>
          <a:off x="3514881" y="2267086"/>
          <a:ext cx="8447604" cy="4515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23802">
                  <a:extLst>
                    <a:ext uri="{9D8B030D-6E8A-4147-A177-3AD203B41FA5}">
                      <a16:colId xmlns:a16="http://schemas.microsoft.com/office/drawing/2014/main" val="237886592"/>
                    </a:ext>
                  </a:extLst>
                </a:gridCol>
                <a:gridCol w="4223802">
                  <a:extLst>
                    <a:ext uri="{9D8B030D-6E8A-4147-A177-3AD203B41FA5}">
                      <a16:colId xmlns:a16="http://schemas.microsoft.com/office/drawing/2014/main" val="497611548"/>
                    </a:ext>
                  </a:extLst>
                </a:gridCol>
              </a:tblGrid>
              <a:tr h="1564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Feature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Description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76400448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Recommendations Title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Indicates that the page provides personalized AI-generated recommendations to improve the user's sleep habits and overall wellness.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4152964365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Personalized Subtitle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a message indicating that the recommendations are personalized for the logged-in user (e.g., "Personalized by AI for Alex").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2921978932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AI Generated Banner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Highlights that all recommendations are generated by AI based on the user's recent sleep data (e.g., the last 7 days).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2989155283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Recommendation Cards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a list of personalized recommendations designed to improve sleep quality and healthy habits.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2757464726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Sleep Earlier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Suggests going to bed earlier (e.g., by 10:30 PM) to better align with the user's circadian rhythm.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2157203764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Reduce Screen Time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Advises limiting device usage before bedtime (e.g., avoid screens 90 minutes before sleep) to improve melatonin production.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229504692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Avoid Evening Caffeine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Recommends avoiding coffee or tea after a specified time (e.g., after 2 PM) to minimize caffeine's effect on sleep.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991728390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Practice Meditation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Encourages a short meditation session before bedtime to reduce sleep onset time and improve relaxation.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916814125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Increase Daily Exercise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Suggests engaging in moderate daily physical activity (e.g., 30 minutes) to improve sleep quality.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3612046979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Cool Your Room Recommendation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Recommends maintaining an optimal bedroom temperature (e.g., 65°–68°F) for better sleep quality.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275452675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Reward Points Badge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the number of wellness points that the user can earn by completing each recommendation (e.g., +12 pts, +8 pts).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257410880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Recommendation Icon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a visual icon representing the category of each recommendation (sleep, screen time, caffeine, meditation, exercise, temperature).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4050553930"/>
                  </a:ext>
                </a:extLst>
              </a:tr>
              <a:tr h="3055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Scrollable Recommendations List</a:t>
                      </a:r>
                      <a:endParaRPr lang="en-S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 dirty="0">
                          <a:effectLst/>
                        </a:rPr>
                        <a:t>Allows users to scroll through all available personalized recommendations when the list exceeds the screen height.</a:t>
                      </a:r>
                      <a:endParaRPr lang="en-SG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52" marR="7652" marT="7652" marB="7652" anchor="ctr"/>
                </a:tc>
                <a:extLst>
                  <a:ext uri="{0D108BD9-81ED-4DB2-BD59-A6C34878D82A}">
                    <a16:rowId xmlns:a16="http://schemas.microsoft.com/office/drawing/2014/main" val="15328479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2A2287-1BBE-5018-A685-98728E615088}"/>
              </a:ext>
            </a:extLst>
          </p:cNvPr>
          <p:cNvSpPr txBox="1"/>
          <p:nvPr/>
        </p:nvSpPr>
        <p:spPr>
          <a:xfrm>
            <a:off x="666518" y="152427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b="1" kern="18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Recommendations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FF789-814F-EB84-9D42-EF72B3B7C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61" y="152427"/>
            <a:ext cx="3816546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45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929935-CCB8-3D98-8AB9-91FFB1065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305776"/>
              </p:ext>
            </p:extLst>
          </p:nvPr>
        </p:nvGraphicFramePr>
        <p:xfrm>
          <a:off x="624974" y="165100"/>
          <a:ext cx="11122525" cy="6613672"/>
        </p:xfrm>
        <a:graphic>
          <a:graphicData uri="http://schemas.openxmlformats.org/drawingml/2006/table">
            <a:tbl>
              <a:tblPr/>
              <a:tblGrid>
                <a:gridCol w="1256676">
                  <a:extLst>
                    <a:ext uri="{9D8B030D-6E8A-4147-A177-3AD203B41FA5}">
                      <a16:colId xmlns:a16="http://schemas.microsoft.com/office/drawing/2014/main" val="4215288041"/>
                    </a:ext>
                  </a:extLst>
                </a:gridCol>
                <a:gridCol w="1256676">
                  <a:extLst>
                    <a:ext uri="{9D8B030D-6E8A-4147-A177-3AD203B41FA5}">
                      <a16:colId xmlns:a16="http://schemas.microsoft.com/office/drawing/2014/main" val="482832165"/>
                    </a:ext>
                  </a:extLst>
                </a:gridCol>
                <a:gridCol w="1256676">
                  <a:extLst>
                    <a:ext uri="{9D8B030D-6E8A-4147-A177-3AD203B41FA5}">
                      <a16:colId xmlns:a16="http://schemas.microsoft.com/office/drawing/2014/main" val="3832488160"/>
                    </a:ext>
                  </a:extLst>
                </a:gridCol>
                <a:gridCol w="1256676">
                  <a:extLst>
                    <a:ext uri="{9D8B030D-6E8A-4147-A177-3AD203B41FA5}">
                      <a16:colId xmlns:a16="http://schemas.microsoft.com/office/drawing/2014/main" val="3295759709"/>
                    </a:ext>
                  </a:extLst>
                </a:gridCol>
                <a:gridCol w="1256676">
                  <a:extLst>
                    <a:ext uri="{9D8B030D-6E8A-4147-A177-3AD203B41FA5}">
                      <a16:colId xmlns:a16="http://schemas.microsoft.com/office/drawing/2014/main" val="445514196"/>
                    </a:ext>
                  </a:extLst>
                </a:gridCol>
                <a:gridCol w="1256676">
                  <a:extLst>
                    <a:ext uri="{9D8B030D-6E8A-4147-A177-3AD203B41FA5}">
                      <a16:colId xmlns:a16="http://schemas.microsoft.com/office/drawing/2014/main" val="66335142"/>
                    </a:ext>
                  </a:extLst>
                </a:gridCol>
                <a:gridCol w="1182681">
                  <a:extLst>
                    <a:ext uri="{9D8B030D-6E8A-4147-A177-3AD203B41FA5}">
                      <a16:colId xmlns:a16="http://schemas.microsoft.com/office/drawing/2014/main" val="362218462"/>
                    </a:ext>
                  </a:extLst>
                </a:gridCol>
                <a:gridCol w="1435528">
                  <a:extLst>
                    <a:ext uri="{9D8B030D-6E8A-4147-A177-3AD203B41FA5}">
                      <a16:colId xmlns:a16="http://schemas.microsoft.com/office/drawing/2014/main" val="216235664"/>
                    </a:ext>
                  </a:extLst>
                </a:gridCol>
                <a:gridCol w="964260">
                  <a:extLst>
                    <a:ext uri="{9D8B030D-6E8A-4147-A177-3AD203B41FA5}">
                      <a16:colId xmlns:a16="http://schemas.microsoft.com/office/drawing/2014/main" val="144155233"/>
                    </a:ext>
                  </a:extLst>
                </a:gridCol>
              </a:tblGrid>
              <a:tr h="159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12382"/>
                  </a:ext>
                </a:extLst>
              </a:tr>
              <a:tr h="455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Page Title (Recommendations)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Bold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98127"/>
                  </a:ext>
                </a:extLst>
              </a:tr>
              <a:tr h="455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 (Personalized by AI for Alex)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#8FA6C7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204901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Generated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#25335A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Robot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00782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Generated Subtitle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118388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Earlier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873664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Earlier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166615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Reduce Screen Time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Mobile Phone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221461"/>
                  </a:ext>
                </a:extLst>
              </a:tr>
              <a:tr h="400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Reduce Screen Time 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494643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Avoid Evening Caffeine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Coffee Cup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227184"/>
                  </a:ext>
                </a:extLst>
              </a:tr>
              <a:tr h="455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Avoid Evening Caffeine 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47435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Practice Meditation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Meditation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29906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Practice Meditation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66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Increase Daily Exercise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Walking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708394"/>
                  </a:ext>
                </a:extLst>
              </a:tr>
              <a:tr h="30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Increase Daily Exercise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Title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828448"/>
                  </a:ext>
                </a:extLst>
              </a:tr>
              <a:tr h="373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Increase Daily Exercise 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7979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Cool Your Room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Medium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Thermometer Icon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Recommendation Card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06506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Cool Your Room 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13 </a:t>
                      </a:r>
                      <a:r>
                        <a:rPr lang="en-SG" sz="1100" dirty="0" err="1"/>
                        <a:t>px</a:t>
                      </a: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Description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596765"/>
                  </a:ext>
                </a:extLst>
              </a:tr>
              <a:tr h="159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100" dirty="0"/>
                    </a:p>
                  </a:txBody>
                  <a:tcPr marL="13727" marR="13727" marT="6863" marB="6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26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25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96FDAF-6A46-7010-E390-31C67CBD6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50" y="953174"/>
            <a:ext cx="1962150" cy="419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199448-04F4-123A-7BB6-56048DF44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921129"/>
              </p:ext>
            </p:extLst>
          </p:nvPr>
        </p:nvGraphicFramePr>
        <p:xfrm>
          <a:off x="3091159" y="2345739"/>
          <a:ext cx="8439672" cy="435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7297">
                  <a:extLst>
                    <a:ext uri="{9D8B030D-6E8A-4147-A177-3AD203B41FA5}">
                      <a16:colId xmlns:a16="http://schemas.microsoft.com/office/drawing/2014/main" val="4001703667"/>
                    </a:ext>
                  </a:extLst>
                </a:gridCol>
                <a:gridCol w="5452375">
                  <a:extLst>
                    <a:ext uri="{9D8B030D-6E8A-4147-A177-3AD203B41FA5}">
                      <a16:colId xmlns:a16="http://schemas.microsoft.com/office/drawing/2014/main" val="2159299688"/>
                    </a:ext>
                  </a:extLst>
                </a:gridCol>
              </a:tblGrid>
              <a:tr h="1776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Feature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Description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1859235889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Weekly Report 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Indicates that the page provides a summary of the user's sleep performance and progress for the current week.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2663243879"/>
                  </a:ext>
                </a:extLst>
              </a:tr>
              <a:tr h="1776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Back Button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Allows the user to return to the previous screen.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861238486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Weekly Average Score Gauge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the user's overall weekly sleep score using a circular progress indicator (e.g., 75/100).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314273255"/>
                  </a:ext>
                </a:extLst>
              </a:tr>
              <a:tr h="1776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Score Value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Shows the numerical weekly sleep score achieved during the selected week.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2681894816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Weekly Average Summary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the average sleep score for the week along with a short motivational message (e.g., "Good progress!").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3448839342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Weekly Progress Indicator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Shows the change in sleep performance compared to the previous week (e.g., +5 vs last week).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4292530495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Sleep Trend Chart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a line graph illustrating the user's daily sleep score or sleep quality trend across the week (Tuesday–Sunday).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4061898034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AI Feedback Card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Provides AI-generated feedback summarizing the user's weekly sleep improvements, strengths, and areas for further improvement.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1897263583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Achievements Section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milestones and accomplishments earned during the week based on the user's sleep habits.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131278524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7-Day Streak Achievement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Indicates that the user has successfully logged sleep every day for seven consecutive days.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1512228767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Improved Bedtime Achievement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Recognizes that the user maintained a more consistent bedtime (e.g., within a 30-minute window).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3005391607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Achievement Status Icon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Displays a completion indicator (e.g., checkmark) showing that an achievement has been successfully earned.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2364830880"/>
                  </a:ext>
                </a:extLst>
              </a:tr>
              <a:tr h="347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>
                          <a:effectLst/>
                        </a:rPr>
                        <a:t>Scrollable Content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000" kern="0" dirty="0">
                          <a:effectLst/>
                        </a:rPr>
                        <a:t>Allows users to scroll through the report if additional charts, feedback, or achievements are available.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48" marR="8248" marT="8248" marB="8248" anchor="ctr"/>
                </a:tc>
                <a:extLst>
                  <a:ext uri="{0D108BD9-81ED-4DB2-BD59-A6C34878D82A}">
                    <a16:rowId xmlns:a16="http://schemas.microsoft.com/office/drawing/2014/main" val="33012052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F84638-6F03-300E-DD6D-AEF2717E50A8}"/>
              </a:ext>
            </a:extLst>
          </p:cNvPr>
          <p:cNvSpPr txBox="1"/>
          <p:nvPr/>
        </p:nvSpPr>
        <p:spPr>
          <a:xfrm>
            <a:off x="584200" y="160921"/>
            <a:ext cx="633651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b="1" kern="18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Weekly Report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5EB61-0A66-23A3-A1BB-751F7783A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25" y="160920"/>
            <a:ext cx="3873699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5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1CEE9-71F1-7AB8-7B9B-3DD0965C6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25866"/>
              </p:ext>
            </p:extLst>
          </p:nvPr>
        </p:nvGraphicFramePr>
        <p:xfrm>
          <a:off x="584201" y="355600"/>
          <a:ext cx="11080746" cy="6345262"/>
        </p:xfrm>
        <a:graphic>
          <a:graphicData uri="http://schemas.openxmlformats.org/drawingml/2006/table">
            <a:tbl>
              <a:tblPr/>
              <a:tblGrid>
                <a:gridCol w="1119506">
                  <a:extLst>
                    <a:ext uri="{9D8B030D-6E8A-4147-A177-3AD203B41FA5}">
                      <a16:colId xmlns:a16="http://schemas.microsoft.com/office/drawing/2014/main" val="3856342791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3007498278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1269077079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715096155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3433940918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3477588120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3692034396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3188777128"/>
                    </a:ext>
                  </a:extLst>
                </a:gridCol>
                <a:gridCol w="1245155">
                  <a:extLst>
                    <a:ext uri="{9D8B030D-6E8A-4147-A177-3AD203B41FA5}">
                      <a16:colId xmlns:a16="http://schemas.microsoft.com/office/drawing/2014/main" val="1748152819"/>
                    </a:ext>
                  </a:extLst>
                </a:gridCol>
              </a:tblGrid>
              <a:tr h="188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532989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Page Title (Weekly Report)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13562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Weekly Score Circle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36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#5DA9FF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Progress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Progress Ring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Indicator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41597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Score Label (/100)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490792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Weekly Average Label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#8FA6C7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Label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955635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Weekly Average Value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32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Statistic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7729"/>
                  </a:ext>
                </a:extLst>
              </a:tr>
              <a:tr h="188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Status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Status Text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295261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Weekly Improvement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</a:t>
                      </a:r>
                      <a:r>
                        <a:rPr lang="en-SG" sz="1100" dirty="0" err="1"/>
                        <a:t>SemiBold</a:t>
                      </a:r>
                      <a:endParaRPr lang="en-SG" sz="1100" dirty="0"/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#37D67A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Trending Up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Progress Indicator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916477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Trend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Line Chart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Analytics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438363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Trend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536757"/>
                  </a:ext>
                </a:extLst>
              </a:tr>
              <a:tr h="188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Trend Graph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Purple (#7C5CFF)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Line Graph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Chart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77072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Day Labels (Tue–Sun)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#8FA6C7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Axis Labels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82414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Feedback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#25335A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Robot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Information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12180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Feedback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77023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AI Feedback Description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#D3DAE8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Body Text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389121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Achievements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Heading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266228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#1B2438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Card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40238"/>
                  </a:ext>
                </a:extLst>
              </a:tr>
              <a:tr h="188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Title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111926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7-Day Streak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Fire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8732"/>
                  </a:ext>
                </a:extLst>
              </a:tr>
              <a:tr h="357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Improved Bedtime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Alarm Clock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Achievement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37421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 Button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 Button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Left Arrow Icon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19960" marR="19960" marT="9980" marB="99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7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164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20C776-01ED-2FCA-5469-F91FAA02A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70" y="877171"/>
            <a:ext cx="1981200" cy="4197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598875-3FB2-DA2F-2DA7-DAEF656F8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173804"/>
              </p:ext>
            </p:extLst>
          </p:nvPr>
        </p:nvGraphicFramePr>
        <p:xfrm>
          <a:off x="3034512" y="2055377"/>
          <a:ext cx="8779859" cy="4571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2513">
                  <a:extLst>
                    <a:ext uri="{9D8B030D-6E8A-4147-A177-3AD203B41FA5}">
                      <a16:colId xmlns:a16="http://schemas.microsoft.com/office/drawing/2014/main" val="1317764776"/>
                    </a:ext>
                  </a:extLst>
                </a:gridCol>
                <a:gridCol w="5337346">
                  <a:extLst>
                    <a:ext uri="{9D8B030D-6E8A-4147-A177-3AD203B41FA5}">
                      <a16:colId xmlns:a16="http://schemas.microsoft.com/office/drawing/2014/main" val="4035033762"/>
                    </a:ext>
                  </a:extLst>
                </a:gridCol>
              </a:tblGrid>
              <a:tr h="1953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Feature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Description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13099558"/>
                  </a:ext>
                </a:extLst>
              </a:tr>
              <a:tr h="3748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Notifications 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Indicates that the page allows users to manage application notifications and reminders.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573310951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Subtitle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 brief description informing users that they can manage their reminders and notification preferences.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075083894"/>
                  </a:ext>
                </a:extLst>
              </a:tr>
              <a:tr h="1953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Back Button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the user to return to the previous screen.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764626901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Push Notifications Toggle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Enables or disables all push notifications for the application. It also displays the number of currently active reminders (e.g., "3 of 5 reminders active").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4130877629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Bedtime Reminder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enable or disable bedtime reminders. Displays the scheduled reminder time (e.g., 10:00 PM).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162394511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Wake-up Reminder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enable or disable wake-up reminders. Displays the scheduled alarm time (e.g., 6:30 AM).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983337111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Daily Log Reminder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enable or disable reminders to log their previous night's sleep. Displays the scheduled reminder time (e.g., 7:00 AM).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4118874534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Meditation Reminder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enable or disable reminders for evening meditation sessions. Displays the scheduled reminder time (e.g., 9:30 PM).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2703234565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Weekly Report Reminder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enable or disable notifications for receiving their weekly sleep summary. Displays the scheduled delivery day (e.g., Every Sunday).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3960876989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Reminder Icon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an icon representing each notification category, such as bedtime, wake-up, sleep log, meditation, or weekly report.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3977763158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Individual Toggle Switches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independently enable or disable each reminder without affecting other notification settings.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464113143"/>
                  </a:ext>
                </a:extLst>
              </a:tr>
              <a:tr h="3748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Scrollable Notification List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 dirty="0">
                          <a:effectLst/>
                        </a:rPr>
                        <a:t>Allows users to scroll through all notification settings if additional reminders are available.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99" marR="8599" marT="8599" marB="8599" anchor="ctr"/>
                </a:tc>
                <a:extLst>
                  <a:ext uri="{0D108BD9-81ED-4DB2-BD59-A6C34878D82A}">
                    <a16:rowId xmlns:a16="http://schemas.microsoft.com/office/drawing/2014/main" val="11720708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E3D816-4662-AF39-1E03-C3FA6839558C}"/>
              </a:ext>
            </a:extLst>
          </p:cNvPr>
          <p:cNvSpPr txBox="1"/>
          <p:nvPr/>
        </p:nvSpPr>
        <p:spPr>
          <a:xfrm>
            <a:off x="750600" y="231607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Notifications Page Features1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624C5-3606-24D3-619E-0E523B129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727" y="86776"/>
            <a:ext cx="3816546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5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C11CA9-B305-1275-5E59-7D14BDF80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217537"/>
              </p:ext>
            </p:extLst>
          </p:nvPr>
        </p:nvGraphicFramePr>
        <p:xfrm>
          <a:off x="516467" y="169332"/>
          <a:ext cx="11438469" cy="6342864"/>
        </p:xfrm>
        <a:graphic>
          <a:graphicData uri="http://schemas.openxmlformats.org/drawingml/2006/table">
            <a:tbl>
              <a:tblPr/>
              <a:tblGrid>
                <a:gridCol w="1270941">
                  <a:extLst>
                    <a:ext uri="{9D8B030D-6E8A-4147-A177-3AD203B41FA5}">
                      <a16:colId xmlns:a16="http://schemas.microsoft.com/office/drawing/2014/main" val="2560912806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513819016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4153334098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224168701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670248962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2816050322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2008003113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3355434155"/>
                    </a:ext>
                  </a:extLst>
                </a:gridCol>
                <a:gridCol w="1270941">
                  <a:extLst>
                    <a:ext uri="{9D8B030D-6E8A-4147-A177-3AD203B41FA5}">
                      <a16:colId xmlns:a16="http://schemas.microsoft.com/office/drawing/2014/main" val="2623553107"/>
                    </a:ext>
                  </a:extLst>
                </a:gridCol>
              </a:tblGrid>
              <a:tr h="23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 Color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Button/Card Style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Image/Icon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294796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Page Title (Notifications)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#FFFFFF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Heading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652616"/>
                  </a:ext>
                </a:extLst>
              </a:tr>
              <a:tr h="541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 (Manage your reminders)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#8FA6C7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058260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Notification Card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Notification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Card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47858"/>
                  </a:ext>
                </a:extLst>
              </a:tr>
              <a:tr h="23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Title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SemiBold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Title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443971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Description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Regular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Description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372034"/>
                  </a:ext>
                </a:extLst>
              </a:tr>
              <a:tr h="23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Time/Day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#5DA9FF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Time Label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27666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 (ON)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Toggle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Switch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744832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 (OFF)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Toggle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Switch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063334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Push Notifications Card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#1B2438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Rounded Card (18 px)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Bell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Settings Card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062770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Push Notifications Status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Poppins Regular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13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#AAB3C5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None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Status Text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99800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Bedtime 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Icon 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22297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Wake-up 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Icon 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Sun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206005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Daily Log 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Icon 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Clipboard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23373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Meditation 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Icon 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Meditation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044009"/>
                  </a:ext>
                </a:extLst>
              </a:tr>
              <a:tr h="43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Weekly Report 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Circular Icon Background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Report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Reminder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74170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 Button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22 px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 Button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Left Arrow Icon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4309" marR="24309" marT="12155" marB="12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4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559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72A8DF-0186-B6A8-E7DD-EF706ED7A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77" y="1368210"/>
            <a:ext cx="2408617" cy="5106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6DD662-052A-28B1-AA2F-6A849A11F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568" y="1347393"/>
            <a:ext cx="2162649" cy="51276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FCD070-0689-7D30-23DC-04C2E785B188}"/>
              </a:ext>
            </a:extLst>
          </p:cNvPr>
          <p:cNvSpPr txBox="1"/>
          <p:nvPr/>
        </p:nvSpPr>
        <p:spPr>
          <a:xfrm>
            <a:off x="735701" y="382912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 Profile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07C0B0-C925-30A5-EBFD-C59706F71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108" y="1326026"/>
            <a:ext cx="3797495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4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551FBF-32AE-5304-D0DE-48AEF3D25310}"/>
              </a:ext>
            </a:extLst>
          </p:cNvPr>
          <p:cNvGraphicFramePr>
            <a:graphicFrameLocks noGrp="1"/>
          </p:cNvGraphicFramePr>
          <p:nvPr/>
        </p:nvGraphicFramePr>
        <p:xfrm>
          <a:off x="1422796" y="1673842"/>
          <a:ext cx="9346408" cy="4673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73204">
                  <a:extLst>
                    <a:ext uri="{9D8B030D-6E8A-4147-A177-3AD203B41FA5}">
                      <a16:colId xmlns:a16="http://schemas.microsoft.com/office/drawing/2014/main" val="1432046098"/>
                    </a:ext>
                  </a:extLst>
                </a:gridCol>
                <a:gridCol w="4673204">
                  <a:extLst>
                    <a:ext uri="{9D8B030D-6E8A-4147-A177-3AD203B41FA5}">
                      <a16:colId xmlns:a16="http://schemas.microsoft.com/office/drawing/2014/main" val="3549097197"/>
                    </a:ext>
                  </a:extLst>
                </a:gridCol>
              </a:tblGrid>
              <a:tr h="182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Feature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Description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679131988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Profile Header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profile picture, full name, and registered email address.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701981819"/>
                  </a:ext>
                </a:extLst>
              </a:tr>
              <a:tr h="356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Profile Avatar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profile image or a default avatar if no custom image has been uploaded.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602750774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Average Sleep Score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overall average sleep score (e.g., 82).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2596918742"/>
                  </a:ext>
                </a:extLst>
              </a:tr>
              <a:tr h="356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Streak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number of consecutive days the user has achieved their sleep goals (e.g., 7 days).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274925371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Logs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total number of recorded sleep logs (e.g., 47 Logs).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3159765154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Profile Information Section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personal profile details.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394675551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Age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age (e.g., 28 years).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310695156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Gender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selected gender (e.g., Male).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3374038020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Member Since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month and year the user joined the application (e.g., Jan 2025).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3258249565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Goals Section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configured sleep-related goals and targets.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752231300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Sleep Duration Goal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target nightly sleep duration (e.g., 8 hours).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492833426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Bedtime Goal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preferred bedtime (e.g., 10:30 PM).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127104253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Target Sleep Score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Displays the user's desired sleep score goal (e.g., &gt; 80).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3020075038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Dark Mode Toggle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the user to enable or disable dark mode for the application interface.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490384670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Notifications Menu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Navigates the user to the Notifications settings page to manage reminders and alerts.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3352977827"/>
                  </a:ext>
                </a:extLst>
              </a:tr>
              <a:tr h="356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Privacy Menu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Navigates the user to the Privacy page to manage privacy preferences and account security settings.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2231972654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Settings Menu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Navigates the user to the application's general settings page.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708596699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Sign Out Button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the user to securely log out of their account.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563142066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Bottom Navigation Bar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Allows users to navigate between Home, Log, Analytics, and Profile pages.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2571345271"/>
                  </a:ext>
                </a:extLst>
              </a:tr>
              <a:tr h="182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>
                          <a:effectLst/>
                        </a:rPr>
                        <a:t>Active Navigation Indicator</a:t>
                      </a:r>
                      <a:endParaRPr lang="en-SG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kern="0" dirty="0">
                          <a:effectLst/>
                        </a:rPr>
                        <a:t>Highlights the currently selected Profile tab in the bottom navigation bar.</a:t>
                      </a:r>
                      <a:endParaRPr lang="en-SG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6" marR="8466" marT="8466" marB="8466" anchor="ctr"/>
                </a:tc>
                <a:extLst>
                  <a:ext uri="{0D108BD9-81ED-4DB2-BD59-A6C34878D82A}">
                    <a16:rowId xmlns:a16="http://schemas.microsoft.com/office/drawing/2014/main" val="10628618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DA5403-533D-E2A9-5767-5F64396E1678}"/>
              </a:ext>
            </a:extLst>
          </p:cNvPr>
          <p:cNvSpPr txBox="1"/>
          <p:nvPr/>
        </p:nvSpPr>
        <p:spPr>
          <a:xfrm>
            <a:off x="888101" y="347036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Profile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339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92BAD2-D0DC-7579-EDEF-2015CE88B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710636"/>
              </p:ext>
            </p:extLst>
          </p:nvPr>
        </p:nvGraphicFramePr>
        <p:xfrm>
          <a:off x="889000" y="296333"/>
          <a:ext cx="10718802" cy="6415982"/>
        </p:xfrm>
        <a:graphic>
          <a:graphicData uri="http://schemas.openxmlformats.org/drawingml/2006/table">
            <a:tbl>
              <a:tblPr/>
              <a:tblGrid>
                <a:gridCol w="1190978">
                  <a:extLst>
                    <a:ext uri="{9D8B030D-6E8A-4147-A177-3AD203B41FA5}">
                      <a16:colId xmlns:a16="http://schemas.microsoft.com/office/drawing/2014/main" val="3632550463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2894594211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3366254068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556707331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1083407297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884349285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2094776464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3368842932"/>
                    </a:ext>
                  </a:extLst>
                </a:gridCol>
                <a:gridCol w="1190978">
                  <a:extLst>
                    <a:ext uri="{9D8B030D-6E8A-4147-A177-3AD203B41FA5}">
                      <a16:colId xmlns:a16="http://schemas.microsoft.com/office/drawing/2014/main" val="3294940635"/>
                    </a:ext>
                  </a:extLst>
                </a:gridCol>
              </a:tblGrid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Color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12910"/>
                  </a:ext>
                </a:extLst>
              </a:tr>
              <a:tr h="406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User Name (Alex Johnson)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Inter (Bold)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(#FFFFFF)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928872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Email Address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Inter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Light Gray (#94A3B8)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864739"/>
                  </a:ext>
                </a:extLst>
              </a:tr>
              <a:tr h="312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Profile Avatar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70 × 70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Gradient Circle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Purple/Blue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 (Edit Profile)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15819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Avg Score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902291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Streak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597240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Logs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20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1370"/>
                  </a:ext>
                </a:extLst>
              </a:tr>
              <a:tr h="50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Title (Profile Info, Sleep Goals)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Semi-Bold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792437"/>
                  </a:ext>
                </a:extLst>
              </a:tr>
              <a:tr h="312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Profile Information 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Navy (#1E293B)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566156"/>
                  </a:ext>
                </a:extLst>
              </a:tr>
              <a:tr h="50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Age, Gender, Member Since Labels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15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(#94A3B8)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178190"/>
                  </a:ext>
                </a:extLst>
              </a:tr>
              <a:tr h="50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Age, Gender, Member Since Values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664856"/>
                  </a:ext>
                </a:extLst>
              </a:tr>
              <a:tr h="312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Goal Cards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14–16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Blue (#243B63)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 (Icons)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291738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28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Yellow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94153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Alarm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28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Pink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8153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Target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28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46916"/>
                  </a:ext>
                </a:extLst>
              </a:tr>
              <a:tr h="312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Mode Row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73409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Notifications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Bell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459373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Privacy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Lock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80210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Settings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Card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Gear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501588"/>
                  </a:ext>
                </a:extLst>
              </a:tr>
              <a:tr h="218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Sign Out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Bold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Red (#3A1F24)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Red (#EF4444)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Logout Icon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71065"/>
                  </a:ext>
                </a:extLst>
              </a:tr>
              <a:tr h="312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Bottom Navigation Icons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12 px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Navy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/ Blue (Active)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Navigation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1541" marR="21541" marT="10771" marB="107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9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041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F7A80-CA21-879C-0B10-68B7B667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16" y="1150389"/>
            <a:ext cx="3772094" cy="21781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3167FB-F311-0D17-5DFC-834E8A5B5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36" y="1090615"/>
            <a:ext cx="2304282" cy="4733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138B8A-B452-EB47-E510-AAB505E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830" y="1062141"/>
            <a:ext cx="2351973" cy="47337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318383-184B-A4F2-AA83-03D74E7ED941}"/>
              </a:ext>
            </a:extLst>
          </p:cNvPr>
          <p:cNvSpPr txBox="1"/>
          <p:nvPr/>
        </p:nvSpPr>
        <p:spPr>
          <a:xfrm>
            <a:off x="648936" y="311936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 Settings Page Features</a:t>
            </a:r>
            <a:endParaRPr lang="en-SG" sz="10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962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D06835-BE9B-28EC-EDAA-1F4B7BA2E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47933"/>
              </p:ext>
            </p:extLst>
          </p:nvPr>
        </p:nvGraphicFramePr>
        <p:xfrm>
          <a:off x="838200" y="1875405"/>
          <a:ext cx="10515600" cy="42660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404205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5238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Feature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Description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9992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Settings Header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page title Settings with the subtitle "Customize your experience."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112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Back Button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return to the previous screen.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012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Dark Mode Toggle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enable or disable Dark Mode for the application interface.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615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Language Setting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currently selected application language (e.g., English) and allows the user to change it.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574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Sleep Goal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user's configured sleep duration goal (e.g., 8 hours) and navigates to the Sleep Goal configuration page.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116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Data Sync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current synchronization status (e.g., On) and allows the user to manage or synchronize application data.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6494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Privacy Policy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Navigates the user to the application's Privacy Policy page.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78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Terms of Service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Navigates the user to the application's Terms of Service page.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975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Delete Account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permanently delete their account after confirmation.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0198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About SleepWell AI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information about the application, including version details and developer information.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072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Rate the App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submit a rating for the application through the device's app store.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022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Send Feedback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Allows the user to submit feedback, suggestions, or report issues to the development team.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903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Application Version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Displays the current application version (e.g., v2.4.1).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897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>
                          <a:effectLst/>
                        </a:rPr>
                        <a:t>Copyright Information</a:t>
                      </a:r>
                      <a:endParaRPr lang="en-SG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kern="0" dirty="0">
                          <a:effectLst/>
                        </a:rPr>
                        <a:t>Displays the application's copyright information (e.g., © 2026 </a:t>
                      </a:r>
                      <a:r>
                        <a:rPr lang="en-SG" sz="1200" kern="0" dirty="0" err="1">
                          <a:effectLst/>
                        </a:rPr>
                        <a:t>SleepWell</a:t>
                      </a:r>
                      <a:r>
                        <a:rPr lang="en-SG" sz="1200" kern="0" dirty="0">
                          <a:effectLst/>
                        </a:rPr>
                        <a:t> Technologies).</a:t>
                      </a:r>
                      <a:endParaRPr lang="en-SG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15105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3FFFA35-EAB1-C160-87FF-876B57486668}"/>
              </a:ext>
            </a:extLst>
          </p:cNvPr>
          <p:cNvSpPr txBox="1"/>
          <p:nvPr/>
        </p:nvSpPr>
        <p:spPr>
          <a:xfrm>
            <a:off x="750536" y="716538"/>
            <a:ext cx="609734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Settings Page Features</a:t>
            </a:r>
            <a:endParaRPr lang="en-SG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53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8ABD06-E0F7-B58B-121C-B06856B0C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143000"/>
              </p:ext>
            </p:extLst>
          </p:nvPr>
        </p:nvGraphicFramePr>
        <p:xfrm>
          <a:off x="821267" y="245533"/>
          <a:ext cx="10803465" cy="6212672"/>
        </p:xfrm>
        <a:graphic>
          <a:graphicData uri="http://schemas.openxmlformats.org/drawingml/2006/table">
            <a:tbl>
              <a:tblPr/>
              <a:tblGrid>
                <a:gridCol w="1200385">
                  <a:extLst>
                    <a:ext uri="{9D8B030D-6E8A-4147-A177-3AD203B41FA5}">
                      <a16:colId xmlns:a16="http://schemas.microsoft.com/office/drawing/2014/main" val="1616992995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3174345703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2948658996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682132393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1858270811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535101045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2654086447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3486909338"/>
                    </a:ext>
                  </a:extLst>
                </a:gridCol>
                <a:gridCol w="1200385">
                  <a:extLst>
                    <a:ext uri="{9D8B030D-6E8A-4147-A177-3AD203B41FA5}">
                      <a16:colId xmlns:a16="http://schemas.microsoft.com/office/drawing/2014/main" val="3108376176"/>
                    </a:ext>
                  </a:extLst>
                </a:gridCol>
              </a:tblGrid>
              <a:tr h="204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Component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Font Size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Color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Button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Image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Type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Clickable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832372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Screen Title (Settings)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Inter Bold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(#FFFFFF)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111900"/>
                  </a:ext>
                </a:extLst>
              </a:tr>
              <a:tr h="467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Subtitle (Customize your experience)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/ Inter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(#94A3B8)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15523"/>
                  </a:ext>
                </a:extLst>
              </a:tr>
              <a:tr h="204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Back Arrow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24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Arrow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600987"/>
                  </a:ext>
                </a:extLst>
              </a:tr>
              <a:tr h="555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Section Headings (Appearance, Sleep, Privacy, About)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Semi-Bold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(#64748B)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5888"/>
                  </a:ext>
                </a:extLst>
              </a:tr>
              <a:tr h="204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Settings Card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Navy (#1E293B)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645509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Dark Mode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Moon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30440"/>
                  </a:ext>
                </a:extLst>
              </a:tr>
              <a:tr h="204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Toggle Switch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46 × 24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Blue (#5B7CFA)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 Knob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Switch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33555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Language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Globe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67922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Selected Language (English)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(#94A3B8)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031688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Sleep Goal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Target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94853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Goal Value (8 hours)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(#94A3B8)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6799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Data Sync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Sync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16759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Sync Status (On)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14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(#94A3B8)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Text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60229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Privacy Policy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Lock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22443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Terms of Service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Document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222774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Delete Account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Red (#EF4444)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Trash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51153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About SleepWell AI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Info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803194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Rate the App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Poppins Medium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16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Card Background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White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Star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Menu Item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808476"/>
                  </a:ext>
                </a:extLst>
              </a:tr>
              <a:tr h="292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Right Arrow Icons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—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18 px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Transparent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Gray (#64748B)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No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Chevron 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Icon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marL="21435" marR="21435" marT="10718" marB="107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676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19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7236</Words>
  <Application>Microsoft Office PowerPoint</Application>
  <PresentationFormat>Widescreen</PresentationFormat>
  <Paragraphs>2500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SleepWell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Zubayer al Mahmud</dc:creator>
  <cp:lastModifiedBy>Zubayer al Mahmud</cp:lastModifiedBy>
  <cp:revision>6</cp:revision>
  <dcterms:created xsi:type="dcterms:W3CDTF">2026-07-26T11:51:55Z</dcterms:created>
  <dcterms:modified xsi:type="dcterms:W3CDTF">2026-07-26T14:40:17Z</dcterms:modified>
</cp:coreProperties>
</file>